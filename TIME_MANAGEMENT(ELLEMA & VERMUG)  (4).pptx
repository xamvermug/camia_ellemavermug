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5" r:id="rId8"/>
    <p:sldId id="281" r:id="rId9"/>
    <p:sldId id="276" r:id="rId10"/>
    <p:sldId id="262" r:id="rId11"/>
    <p:sldId id="263" r:id="rId12"/>
    <p:sldId id="264" r:id="rId13"/>
    <p:sldId id="265" r:id="rId14"/>
    <p:sldId id="277" r:id="rId15"/>
    <p:sldId id="266" r:id="rId16"/>
    <p:sldId id="278" r:id="rId17"/>
    <p:sldId id="279" r:id="rId18"/>
    <p:sldId id="274" r:id="rId19"/>
    <p:sldId id="280" r:id="rId20"/>
    <p:sldId id="271" r:id="rId21"/>
    <p:sldId id="272" r:id="rId22"/>
    <p:sldId id="273" r:id="rId23"/>
  </p:sldIdLst>
  <p:sldSz cx="18288000" cy="10287000"/>
  <p:notesSz cx="6858000" cy="9144000"/>
  <p:embeddedFontLst>
    <p:embeddedFont>
      <p:font typeface="Bungee" panose="020B0604020202020204" charset="0"/>
      <p:regular r:id="rId24"/>
    </p:embeddedFont>
    <p:embeddedFont>
      <p:font typeface="Segoe UI Historic" panose="020B0502040204020203" pitchFamily="34" charset="0"/>
      <p:regular r:id="rId25"/>
    </p:embeddedFont>
    <p:embeddedFont>
      <p:font typeface="Quicksand" panose="020B0604020202020204" charset="0"/>
      <p:regular r:id="rId26"/>
    </p:embeddedFont>
    <p:embeddedFont>
      <p:font typeface="Quicksand Bold" panose="020B0604020202020204" charset="0"/>
      <p:regular r:id="rId27"/>
    </p:embeddedFont>
    <p:embeddedFont>
      <p:font typeface="Calibri" panose="020F0502020204030204" pitchFamily="34" charset="0"/>
      <p:regular r:id="rId28"/>
      <p:bold r:id="rId29"/>
      <p:italic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3" d="100"/>
          <a:sy n="73" d="100"/>
        </p:scale>
        <p:origin x="59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5.png"/><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Layout" Target="../slideLayouts/slideLayout7.xml"/><Relationship Id="rId11" Type="http://schemas.openxmlformats.org/officeDocument/2006/relationships/image" Target="../media/image4.png"/><Relationship Id="rId10"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7.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3.svg"/><Relationship Id="rId12" Type="http://schemas.openxmlformats.org/officeDocument/2006/relationships/image" Target="../media/image16.png"/><Relationship Id="rId7"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Layout" Target="../slideLayouts/slideLayout7.xml"/><Relationship Id="rId11" Type="http://schemas.openxmlformats.org/officeDocument/2006/relationships/image" Target="../media/image15.png"/><Relationship Id="rId5" Type="http://schemas.openxmlformats.org/officeDocument/2006/relationships/image" Target="../media/image35.svg"/><Relationship Id="rId10" Type="http://schemas.openxmlformats.org/officeDocument/2006/relationships/image" Target="../media/image14.png"/><Relationship Id="rId9" Type="http://schemas.openxmlformats.org/officeDocument/2006/relationships/image" Target="../media/image39.svg"/></Relationships>
</file>

<file path=ppt/slides/_rels/slide7.xml.rels><?xml version="1.0" encoding="UTF-8" standalone="yes"?>
<Relationships xmlns="http://schemas.openxmlformats.org/package/2006/relationships"><Relationship Id="rId3" Type="http://schemas.openxmlformats.org/officeDocument/2006/relationships/image" Target="../media/image33.svg"/><Relationship Id="rId12" Type="http://schemas.openxmlformats.org/officeDocument/2006/relationships/image" Target="../media/image16.png"/><Relationship Id="rId7"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Layout" Target="../slideLayouts/slideLayout7.xml"/><Relationship Id="rId11" Type="http://schemas.openxmlformats.org/officeDocument/2006/relationships/image" Target="../media/image15.png"/><Relationship Id="rId5" Type="http://schemas.openxmlformats.org/officeDocument/2006/relationships/image" Target="../media/image35.svg"/><Relationship Id="rId10" Type="http://schemas.openxmlformats.org/officeDocument/2006/relationships/image" Target="../media/image14.png"/><Relationship Id="rId9"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image" Target="../media/image33.svg"/><Relationship Id="rId12" Type="http://schemas.openxmlformats.org/officeDocument/2006/relationships/image" Target="../media/image16.png"/><Relationship Id="rId7" Type="http://schemas.openxmlformats.org/officeDocument/2006/relationships/image" Target="../media/image37.svg"/><Relationship Id="rId2" Type="http://schemas.openxmlformats.org/officeDocument/2006/relationships/image" Target="../media/image13.png"/><Relationship Id="rId1" Type="http://schemas.openxmlformats.org/officeDocument/2006/relationships/slideLayout" Target="../slideLayouts/slideLayout7.xml"/><Relationship Id="rId11" Type="http://schemas.openxmlformats.org/officeDocument/2006/relationships/image" Target="../media/image15.png"/><Relationship Id="rId5" Type="http://schemas.openxmlformats.org/officeDocument/2006/relationships/image" Target="../media/image35.svg"/><Relationship Id="rId10" Type="http://schemas.openxmlformats.org/officeDocument/2006/relationships/image" Target="../media/image14.png"/><Relationship Id="rId9" Type="http://schemas.openxmlformats.org/officeDocument/2006/relationships/image" Target="../media/image39.svg"/></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43.sv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03455" y="1028700"/>
            <a:ext cx="12281090" cy="6736945"/>
            <a:chOff x="0" y="0"/>
            <a:chExt cx="3234526" cy="1774339"/>
          </a:xfrm>
        </p:grpSpPr>
        <p:sp>
          <p:nvSpPr>
            <p:cNvPr id="3" name="Freeform 3"/>
            <p:cNvSpPr/>
            <p:nvPr/>
          </p:nvSpPr>
          <p:spPr>
            <a:xfrm>
              <a:off x="0" y="0"/>
              <a:ext cx="3234526" cy="1774339"/>
            </a:xfrm>
            <a:custGeom>
              <a:avLst/>
              <a:gdLst/>
              <a:ahLst/>
              <a:cxnLst/>
              <a:rect l="l" t="t" r="r" b="b"/>
              <a:pathLst>
                <a:path w="3234526" h="1774339">
                  <a:moveTo>
                    <a:pt x="50431" y="0"/>
                  </a:moveTo>
                  <a:lnTo>
                    <a:pt x="3184094" y="0"/>
                  </a:lnTo>
                  <a:cubicBezTo>
                    <a:pt x="3211947" y="0"/>
                    <a:pt x="3234526" y="22579"/>
                    <a:pt x="3234526" y="50431"/>
                  </a:cubicBezTo>
                  <a:lnTo>
                    <a:pt x="3234526" y="1723908"/>
                  </a:lnTo>
                  <a:cubicBezTo>
                    <a:pt x="3234526" y="1751761"/>
                    <a:pt x="3211947" y="1774339"/>
                    <a:pt x="3184094" y="1774339"/>
                  </a:cubicBezTo>
                  <a:lnTo>
                    <a:pt x="50431" y="1774339"/>
                  </a:lnTo>
                  <a:cubicBezTo>
                    <a:pt x="22579" y="1774339"/>
                    <a:pt x="0" y="1751761"/>
                    <a:pt x="0" y="1723908"/>
                  </a:cubicBezTo>
                  <a:lnTo>
                    <a:pt x="0" y="50431"/>
                  </a:lnTo>
                  <a:cubicBezTo>
                    <a:pt x="0" y="22579"/>
                    <a:pt x="22579" y="0"/>
                    <a:pt x="50431" y="0"/>
                  </a:cubicBezTo>
                  <a:close/>
                </a:path>
              </a:pathLst>
            </a:custGeom>
            <a:solidFill>
              <a:srgbClr val="FFFFFF"/>
            </a:solidFill>
          </p:spPr>
        </p:sp>
        <p:sp>
          <p:nvSpPr>
            <p:cNvPr id="4" name="TextBox 4"/>
            <p:cNvSpPr txBox="1"/>
            <p:nvPr/>
          </p:nvSpPr>
          <p:spPr>
            <a:xfrm>
              <a:off x="0" y="-38100"/>
              <a:ext cx="3234526" cy="1812439"/>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3729127" y="3778829"/>
            <a:ext cx="10829746" cy="1516870"/>
          </a:xfrm>
          <a:prstGeom prst="rect">
            <a:avLst/>
          </a:prstGeom>
        </p:spPr>
        <p:txBody>
          <a:bodyPr lIns="0" tIns="0" rIns="0" bIns="0" rtlCol="0" anchor="t">
            <a:spAutoFit/>
          </a:bodyPr>
          <a:lstStyle/>
          <a:p>
            <a:pPr algn="ctr">
              <a:lnSpc>
                <a:spcPts val="9506"/>
              </a:lnSpc>
            </a:pPr>
            <a:r>
              <a:rPr lang="en-US" sz="10562">
                <a:solidFill>
                  <a:srgbClr val="1D3163"/>
                </a:solidFill>
                <a:latin typeface="Bungee"/>
                <a:ea typeface="Bungee"/>
                <a:cs typeface="Bungee"/>
                <a:sym typeface="Bungee"/>
              </a:rPr>
              <a:t>MANAGEMENT</a:t>
            </a:r>
          </a:p>
        </p:txBody>
      </p:sp>
      <p:grpSp>
        <p:nvGrpSpPr>
          <p:cNvPr id="6" name="Group 6"/>
          <p:cNvGrpSpPr/>
          <p:nvPr/>
        </p:nvGrpSpPr>
        <p:grpSpPr>
          <a:xfrm>
            <a:off x="5517182" y="5982761"/>
            <a:ext cx="7253637" cy="1191697"/>
            <a:chOff x="0" y="0"/>
            <a:chExt cx="1910423" cy="313863"/>
          </a:xfrm>
        </p:grpSpPr>
        <p:sp>
          <p:nvSpPr>
            <p:cNvPr id="7" name="Freeform 7"/>
            <p:cNvSpPr/>
            <p:nvPr/>
          </p:nvSpPr>
          <p:spPr>
            <a:xfrm>
              <a:off x="0" y="0"/>
              <a:ext cx="1910423" cy="313863"/>
            </a:xfrm>
            <a:custGeom>
              <a:avLst/>
              <a:gdLst/>
              <a:ahLst/>
              <a:cxnLst/>
              <a:rect l="l" t="t" r="r" b="b"/>
              <a:pathLst>
                <a:path w="1910423" h="313863">
                  <a:moveTo>
                    <a:pt x="85385" y="0"/>
                  </a:moveTo>
                  <a:lnTo>
                    <a:pt x="1825037" y="0"/>
                  </a:lnTo>
                  <a:cubicBezTo>
                    <a:pt x="1872194" y="0"/>
                    <a:pt x="1910423" y="38228"/>
                    <a:pt x="1910423" y="85385"/>
                  </a:cubicBezTo>
                  <a:lnTo>
                    <a:pt x="1910423" y="228477"/>
                  </a:lnTo>
                  <a:cubicBezTo>
                    <a:pt x="1910423" y="251123"/>
                    <a:pt x="1901427" y="272841"/>
                    <a:pt x="1885414" y="288854"/>
                  </a:cubicBezTo>
                  <a:cubicBezTo>
                    <a:pt x="1869401" y="304867"/>
                    <a:pt x="1847683" y="313863"/>
                    <a:pt x="1825037" y="313863"/>
                  </a:cubicBezTo>
                  <a:lnTo>
                    <a:pt x="85385" y="313863"/>
                  </a:lnTo>
                  <a:cubicBezTo>
                    <a:pt x="62740" y="313863"/>
                    <a:pt x="41022" y="304867"/>
                    <a:pt x="25009" y="288854"/>
                  </a:cubicBezTo>
                  <a:cubicBezTo>
                    <a:pt x="8996" y="272841"/>
                    <a:pt x="0" y="251123"/>
                    <a:pt x="0" y="228477"/>
                  </a:cubicBezTo>
                  <a:lnTo>
                    <a:pt x="0" y="85385"/>
                  </a:lnTo>
                  <a:cubicBezTo>
                    <a:pt x="0" y="62740"/>
                    <a:pt x="8996" y="41022"/>
                    <a:pt x="25009" y="25009"/>
                  </a:cubicBezTo>
                  <a:cubicBezTo>
                    <a:pt x="41022" y="8996"/>
                    <a:pt x="62740" y="0"/>
                    <a:pt x="85385" y="0"/>
                  </a:cubicBezTo>
                  <a:close/>
                </a:path>
              </a:pathLst>
            </a:custGeom>
            <a:solidFill>
              <a:srgbClr val="ABBADA"/>
            </a:solidFill>
          </p:spPr>
        </p:sp>
        <p:sp>
          <p:nvSpPr>
            <p:cNvPr id="8" name="TextBox 8"/>
            <p:cNvSpPr txBox="1"/>
            <p:nvPr/>
          </p:nvSpPr>
          <p:spPr>
            <a:xfrm>
              <a:off x="0" y="-66675"/>
              <a:ext cx="1910423" cy="380538"/>
            </a:xfrm>
            <a:prstGeom prst="rect">
              <a:avLst/>
            </a:prstGeom>
          </p:spPr>
          <p:txBody>
            <a:bodyPr lIns="50800" tIns="50800" rIns="50800" bIns="50800" rtlCol="0" anchor="ctr"/>
            <a:lstStyle/>
            <a:p>
              <a:pPr algn="ctr">
                <a:lnSpc>
                  <a:spcPts val="3919"/>
                </a:lnSpc>
                <a:spcBef>
                  <a:spcPct val="0"/>
                </a:spcBef>
              </a:pPr>
              <a:r>
                <a:rPr lang="en-US" sz="2799" b="1">
                  <a:solidFill>
                    <a:srgbClr val="000000"/>
                  </a:solidFill>
                  <a:latin typeface="Quicksand Bold"/>
                  <a:ea typeface="Quicksand Bold"/>
                  <a:cs typeface="Quicksand Bold"/>
                  <a:sym typeface="Quicksand Bold"/>
                </a:rPr>
                <a:t>COMPUTER SCIENCE 2</a:t>
              </a:r>
            </a:p>
          </p:txBody>
        </p:sp>
      </p:grpSp>
      <p:sp>
        <p:nvSpPr>
          <p:cNvPr id="11" name="Freeform 11"/>
          <p:cNvSpPr/>
          <p:nvPr/>
        </p:nvSpPr>
        <p:spPr>
          <a:xfrm rot="636537">
            <a:off x="1524353" y="1025040"/>
            <a:ext cx="2310758" cy="2310758"/>
          </a:xfrm>
          <a:custGeom>
            <a:avLst/>
            <a:gdLst/>
            <a:ahLst/>
            <a:cxnLst/>
            <a:rect l="l" t="t" r="r" b="b"/>
            <a:pathLst>
              <a:path w="2310758" h="2310758">
                <a:moveTo>
                  <a:pt x="0" y="0"/>
                </a:moveTo>
                <a:lnTo>
                  <a:pt x="2310758" y="0"/>
                </a:lnTo>
                <a:lnTo>
                  <a:pt x="2310758" y="2310759"/>
                </a:lnTo>
                <a:lnTo>
                  <a:pt x="0" y="2310759"/>
                </a:lnTo>
                <a:lnTo>
                  <a:pt x="0" y="0"/>
                </a:lnTo>
                <a:close/>
              </a:path>
            </a:pathLst>
          </a:custGeom>
          <a:blipFill>
            <a:blip r:embed="rId2" cstate="print">
              <a:extLst>
                <a:ext uri="{96DAC541-7B7A-43D3-8B79-37D633B846F1}">
                  <asvg:svgBlip xmlns:asvg="http://schemas.microsoft.com/office/drawing/2016/SVG/main" xmlns="" r:embed="rId7"/>
                </a:ext>
              </a:extLst>
            </a:blip>
            <a:stretch>
              <a:fillRect/>
            </a:stretch>
          </a:blipFill>
        </p:spPr>
      </p:sp>
      <p:sp>
        <p:nvSpPr>
          <p:cNvPr id="12" name="Freeform 12"/>
          <p:cNvSpPr/>
          <p:nvPr/>
        </p:nvSpPr>
        <p:spPr>
          <a:xfrm>
            <a:off x="1366059" y="5708245"/>
            <a:ext cx="4151122" cy="4114800"/>
          </a:xfrm>
          <a:custGeom>
            <a:avLst/>
            <a:gdLst/>
            <a:ahLst/>
            <a:cxnLst/>
            <a:rect l="l" t="t" r="r" b="b"/>
            <a:pathLst>
              <a:path w="4151122" h="4114800">
                <a:moveTo>
                  <a:pt x="0" y="0"/>
                </a:moveTo>
                <a:lnTo>
                  <a:pt x="4151123" y="0"/>
                </a:lnTo>
                <a:lnTo>
                  <a:pt x="4151123" y="4114800"/>
                </a:lnTo>
                <a:lnTo>
                  <a:pt x="0" y="411480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13" name="Freeform 13"/>
          <p:cNvSpPr/>
          <p:nvPr/>
        </p:nvSpPr>
        <p:spPr>
          <a:xfrm>
            <a:off x="15094169" y="5415181"/>
            <a:ext cx="2696957" cy="3017574"/>
          </a:xfrm>
          <a:custGeom>
            <a:avLst/>
            <a:gdLst/>
            <a:ahLst/>
            <a:cxnLst/>
            <a:rect l="l" t="t" r="r" b="b"/>
            <a:pathLst>
              <a:path w="2696957" h="3017574">
                <a:moveTo>
                  <a:pt x="0" y="0"/>
                </a:moveTo>
                <a:lnTo>
                  <a:pt x="2696956" y="0"/>
                </a:lnTo>
                <a:lnTo>
                  <a:pt x="2696956" y="3017574"/>
                </a:lnTo>
                <a:lnTo>
                  <a:pt x="0" y="3017574"/>
                </a:lnTo>
                <a:lnTo>
                  <a:pt x="0" y="0"/>
                </a:lnTo>
                <a:close/>
              </a:path>
            </a:pathLst>
          </a:custGeom>
          <a:blipFill>
            <a:blip r:embed="rId10" cstate="print"/>
            <a:stretch>
              <a:fillRect/>
            </a:stretch>
          </a:blipFill>
        </p:spPr>
      </p:sp>
      <p:sp>
        <p:nvSpPr>
          <p:cNvPr id="14" name="Freeform 14"/>
          <p:cNvSpPr/>
          <p:nvPr/>
        </p:nvSpPr>
        <p:spPr>
          <a:xfrm>
            <a:off x="11701437" y="1305321"/>
            <a:ext cx="2390329" cy="2390329"/>
          </a:xfrm>
          <a:custGeom>
            <a:avLst/>
            <a:gdLst/>
            <a:ahLst/>
            <a:cxnLst/>
            <a:rect l="l" t="t" r="r" b="b"/>
            <a:pathLst>
              <a:path w="2390329" h="2390329">
                <a:moveTo>
                  <a:pt x="0" y="0"/>
                </a:moveTo>
                <a:lnTo>
                  <a:pt x="2390329" y="0"/>
                </a:lnTo>
                <a:lnTo>
                  <a:pt x="2390329" y="2390329"/>
                </a:lnTo>
                <a:lnTo>
                  <a:pt x="0" y="2390329"/>
                </a:lnTo>
                <a:lnTo>
                  <a:pt x="0" y="0"/>
                </a:lnTo>
                <a:close/>
              </a:path>
            </a:pathLst>
          </a:custGeom>
          <a:blipFill>
            <a:blip r:embed="rId11" cstate="print">
              <a:extLst>
                <a:ext uri="{96DAC541-7B7A-43D3-8B79-37D633B846F1}">
                  <asvg:svgBlip xmlns:asvg="http://schemas.microsoft.com/office/drawing/2016/SVG/main" xmlns="" r:embed="rId12"/>
                </a:ext>
              </a:extLst>
            </a:blip>
            <a:stretch>
              <a:fillRect/>
            </a:stretch>
          </a:blipFill>
        </p:spPr>
      </p:sp>
      <p:sp>
        <p:nvSpPr>
          <p:cNvPr id="15" name="Freeform 15"/>
          <p:cNvSpPr/>
          <p:nvPr/>
        </p:nvSpPr>
        <p:spPr>
          <a:xfrm rot="-430163">
            <a:off x="13281945" y="7147125"/>
            <a:ext cx="2004805" cy="2161515"/>
          </a:xfrm>
          <a:custGeom>
            <a:avLst/>
            <a:gdLst/>
            <a:ahLst/>
            <a:cxnLst/>
            <a:rect l="l" t="t" r="r" b="b"/>
            <a:pathLst>
              <a:path w="2004805" h="2161515">
                <a:moveTo>
                  <a:pt x="0" y="0"/>
                </a:moveTo>
                <a:lnTo>
                  <a:pt x="2004806" y="0"/>
                </a:lnTo>
                <a:lnTo>
                  <a:pt x="2004806" y="2161515"/>
                </a:lnTo>
                <a:lnTo>
                  <a:pt x="0" y="2161515"/>
                </a:lnTo>
                <a:lnTo>
                  <a:pt x="0" y="0"/>
                </a:lnTo>
                <a:close/>
              </a:path>
            </a:pathLst>
          </a:custGeom>
          <a:blipFill>
            <a:blip r:embed="rId13" cstate="print">
              <a:extLst>
                <a:ext uri="{96DAC541-7B7A-43D3-8B79-37D633B846F1}">
                  <asvg:svgBlip xmlns:asvg="http://schemas.microsoft.com/office/drawing/2016/SVG/main" xmlns="" r:embed="rId14"/>
                </a:ext>
              </a:extLst>
            </a:blip>
            <a:stretch>
              <a:fillRect/>
            </a:stretch>
          </a:blipFill>
        </p:spPr>
      </p:sp>
      <p:sp>
        <p:nvSpPr>
          <p:cNvPr id="16" name="TextBox 16"/>
          <p:cNvSpPr txBox="1"/>
          <p:nvPr/>
        </p:nvSpPr>
        <p:spPr>
          <a:xfrm>
            <a:off x="6115802" y="1859303"/>
            <a:ext cx="6056396" cy="1976109"/>
          </a:xfrm>
          <a:prstGeom prst="rect">
            <a:avLst/>
          </a:prstGeom>
        </p:spPr>
        <p:txBody>
          <a:bodyPr lIns="0" tIns="0" rIns="0" bIns="0" rtlCol="0" anchor="t">
            <a:spAutoFit/>
          </a:bodyPr>
          <a:lstStyle/>
          <a:p>
            <a:pPr algn="ctr">
              <a:lnSpc>
                <a:spcPts val="12479"/>
              </a:lnSpc>
            </a:pPr>
            <a:r>
              <a:rPr lang="en-US" sz="13866">
                <a:solidFill>
                  <a:srgbClr val="CB5A2E"/>
                </a:solidFill>
                <a:latin typeface="Bungee"/>
                <a:ea typeface="Bungee"/>
                <a:cs typeface="Bungee"/>
                <a:sym typeface="Bungee"/>
              </a:rPr>
              <a:t>TIME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703101" y="4108704"/>
            <a:ext cx="6556199" cy="5149596"/>
          </a:xfrm>
          <a:custGeom>
            <a:avLst/>
            <a:gdLst/>
            <a:ahLst/>
            <a:cxnLst/>
            <a:rect l="l" t="t" r="r" b="b"/>
            <a:pathLst>
              <a:path w="6556199" h="5149596">
                <a:moveTo>
                  <a:pt x="0" y="0"/>
                </a:moveTo>
                <a:lnTo>
                  <a:pt x="6556199" y="0"/>
                </a:lnTo>
                <a:lnTo>
                  <a:pt x="6556199" y="5149596"/>
                </a:lnTo>
                <a:lnTo>
                  <a:pt x="0" y="514959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1953229" y="2373114"/>
            <a:ext cx="7556349" cy="1152526"/>
          </a:xfrm>
          <a:prstGeom prst="rect">
            <a:avLst/>
          </a:prstGeom>
        </p:spPr>
        <p:txBody>
          <a:bodyPr lIns="0" tIns="0" rIns="0" bIns="0" rtlCol="0" anchor="t">
            <a:spAutoFit/>
          </a:bodyPr>
          <a:lstStyle/>
          <a:p>
            <a:pPr algn="l">
              <a:lnSpc>
                <a:spcPts val="7200"/>
              </a:lnSpc>
            </a:pPr>
            <a:r>
              <a:rPr lang="en-US" sz="8000">
                <a:solidFill>
                  <a:srgbClr val="1D3163"/>
                </a:solidFill>
                <a:latin typeface="Bungee"/>
                <a:ea typeface="Bungee"/>
                <a:cs typeface="Bungee"/>
                <a:sym typeface="Bungee"/>
              </a:rPr>
              <a:t>background</a:t>
            </a:r>
          </a:p>
        </p:txBody>
      </p:sp>
      <p:sp>
        <p:nvSpPr>
          <p:cNvPr id="4" name="TextBox 4"/>
          <p:cNvSpPr txBox="1"/>
          <p:nvPr/>
        </p:nvSpPr>
        <p:spPr>
          <a:xfrm>
            <a:off x="1953229" y="4386936"/>
            <a:ext cx="7190771" cy="3489324"/>
          </a:xfrm>
          <a:prstGeom prst="rect">
            <a:avLst/>
          </a:prstGeom>
        </p:spPr>
        <p:txBody>
          <a:bodyPr lIns="0" tIns="0" rIns="0" bIns="0" rtlCol="0" anchor="t">
            <a:spAutoFit/>
          </a:bodyPr>
          <a:lstStyle/>
          <a:p>
            <a:pPr algn="l">
              <a:lnSpc>
                <a:spcPts val="3500"/>
              </a:lnSpc>
            </a:pPr>
            <a:r>
              <a:rPr lang="en-US" sz="2500" b="1">
                <a:solidFill>
                  <a:srgbClr val="1D3163"/>
                </a:solidFill>
                <a:latin typeface="Quicksand Bold"/>
                <a:ea typeface="Quicksand Bold"/>
                <a:cs typeface="Quicksand Bold"/>
                <a:sym typeface="Quicksand Bold"/>
              </a:rPr>
              <a:t>Students today are grappling with an overwhelming academic environment, often dealing with a lot of school tasks and competing deadlines. This complexity frequently results in missed work, which not only triggers significant stress but also directly leads to diminished academic performance.</a:t>
            </a:r>
          </a:p>
        </p:txBody>
      </p:sp>
      <p:sp>
        <p:nvSpPr>
          <p:cNvPr id="5" name="Freeform 5"/>
          <p:cNvSpPr/>
          <p:nvPr/>
        </p:nvSpPr>
        <p:spPr>
          <a:xfrm>
            <a:off x="11484932" y="1028700"/>
            <a:ext cx="2168778" cy="2242568"/>
          </a:xfrm>
          <a:custGeom>
            <a:avLst/>
            <a:gdLst/>
            <a:ahLst/>
            <a:cxnLst/>
            <a:rect l="l" t="t" r="r" b="b"/>
            <a:pathLst>
              <a:path w="2168778" h="2242568">
                <a:moveTo>
                  <a:pt x="0" y="0"/>
                </a:moveTo>
                <a:lnTo>
                  <a:pt x="2168778" y="0"/>
                </a:lnTo>
                <a:lnTo>
                  <a:pt x="2168778" y="2242568"/>
                </a:lnTo>
                <a:lnTo>
                  <a:pt x="0" y="2242568"/>
                </a:lnTo>
                <a:lnTo>
                  <a:pt x="0" y="0"/>
                </a:lnTo>
                <a:close/>
              </a:path>
            </a:pathLst>
          </a:custGeom>
          <a:blipFill>
            <a:blip r:embed="rId4">
              <a:extLst>
                <a:ext uri="{96DAC541-7B7A-43D3-8B79-37D633B846F1}">
                  <asvg:svgBlip xmlns:asvg="http://schemas.microsoft.com/office/drawing/2016/SVG/main" xmlns="" r:embed="rId5"/>
                </a:ext>
              </a:extLst>
            </a:blip>
            <a:stretch>
              <a:fillRect l="-64087" r="-224693" b="-253429"/>
            </a:stretch>
          </a:blipFill>
        </p:spPr>
      </p:sp>
      <p:grpSp>
        <p:nvGrpSpPr>
          <p:cNvPr id="6" name="Group 6"/>
          <p:cNvGrpSpPr/>
          <p:nvPr/>
        </p:nvGrpSpPr>
        <p:grpSpPr>
          <a:xfrm>
            <a:off x="1028700" y="9248775"/>
            <a:ext cx="17970690" cy="2809662"/>
            <a:chOff x="0" y="0"/>
            <a:chExt cx="4733021" cy="739993"/>
          </a:xfrm>
        </p:grpSpPr>
        <p:sp>
          <p:nvSpPr>
            <p:cNvPr id="7" name="Freeform 7"/>
            <p:cNvSpPr/>
            <p:nvPr/>
          </p:nvSpPr>
          <p:spPr>
            <a:xfrm>
              <a:off x="0" y="0"/>
              <a:ext cx="4733021" cy="739993"/>
            </a:xfrm>
            <a:custGeom>
              <a:avLst/>
              <a:gdLst/>
              <a:ahLst/>
              <a:cxnLst/>
              <a:rect l="l" t="t" r="r" b="b"/>
              <a:pathLst>
                <a:path w="4733021" h="739993">
                  <a:moveTo>
                    <a:pt x="34465" y="0"/>
                  </a:moveTo>
                  <a:lnTo>
                    <a:pt x="4698557" y="0"/>
                  </a:lnTo>
                  <a:cubicBezTo>
                    <a:pt x="4707697" y="0"/>
                    <a:pt x="4716463" y="3631"/>
                    <a:pt x="4722927" y="10094"/>
                  </a:cubicBezTo>
                  <a:cubicBezTo>
                    <a:pt x="4729390" y="16558"/>
                    <a:pt x="4733021" y="25324"/>
                    <a:pt x="4733021" y="34465"/>
                  </a:cubicBezTo>
                  <a:lnTo>
                    <a:pt x="4733021" y="705529"/>
                  </a:lnTo>
                  <a:cubicBezTo>
                    <a:pt x="4733021" y="714669"/>
                    <a:pt x="4729390" y="723436"/>
                    <a:pt x="4722927" y="729899"/>
                  </a:cubicBezTo>
                  <a:cubicBezTo>
                    <a:pt x="4716463" y="736362"/>
                    <a:pt x="4707697" y="739993"/>
                    <a:pt x="4698557" y="739993"/>
                  </a:cubicBezTo>
                  <a:lnTo>
                    <a:pt x="34465" y="739993"/>
                  </a:lnTo>
                  <a:cubicBezTo>
                    <a:pt x="25324" y="739993"/>
                    <a:pt x="16558" y="736362"/>
                    <a:pt x="10094" y="729899"/>
                  </a:cubicBezTo>
                  <a:cubicBezTo>
                    <a:pt x="3631" y="723436"/>
                    <a:pt x="0" y="714669"/>
                    <a:pt x="0" y="705529"/>
                  </a:cubicBezTo>
                  <a:lnTo>
                    <a:pt x="0" y="34465"/>
                  </a:lnTo>
                  <a:cubicBezTo>
                    <a:pt x="0" y="25324"/>
                    <a:pt x="3631" y="16558"/>
                    <a:pt x="10094" y="10094"/>
                  </a:cubicBezTo>
                  <a:cubicBezTo>
                    <a:pt x="16558" y="3631"/>
                    <a:pt x="25324" y="0"/>
                    <a:pt x="34465" y="0"/>
                  </a:cubicBezTo>
                  <a:close/>
                </a:path>
              </a:pathLst>
            </a:custGeom>
            <a:solidFill>
              <a:srgbClr val="FFFFFF"/>
            </a:solidFill>
          </p:spPr>
        </p:sp>
        <p:sp>
          <p:nvSpPr>
            <p:cNvPr id="8" name="TextBox 8"/>
            <p:cNvSpPr txBox="1"/>
            <p:nvPr/>
          </p:nvSpPr>
          <p:spPr>
            <a:xfrm>
              <a:off x="0" y="-38100"/>
              <a:ext cx="4733021" cy="778093"/>
            </a:xfrm>
            <a:prstGeom prst="rect">
              <a:avLst/>
            </a:prstGeom>
          </p:spPr>
          <p:txBody>
            <a:bodyPr lIns="50800" tIns="50800" rIns="50800" bIns="50800" rtlCol="0" anchor="ctr"/>
            <a:lstStyle/>
            <a:p>
              <a:pPr algn="ctr">
                <a:lnSpc>
                  <a:spcPts val="2659"/>
                </a:lnSpc>
              </a:pPr>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26721" y="4192080"/>
            <a:ext cx="14926206" cy="2157266"/>
            <a:chOff x="0" y="0"/>
            <a:chExt cx="3933769" cy="568543"/>
          </a:xfrm>
        </p:grpSpPr>
        <p:sp>
          <p:nvSpPr>
            <p:cNvPr id="3" name="Freeform 3"/>
            <p:cNvSpPr/>
            <p:nvPr/>
          </p:nvSpPr>
          <p:spPr>
            <a:xfrm>
              <a:off x="0" y="0"/>
              <a:ext cx="3933769" cy="568543"/>
            </a:xfrm>
            <a:custGeom>
              <a:avLst/>
              <a:gdLst/>
              <a:ahLst/>
              <a:cxnLst/>
              <a:rect l="l" t="t" r="r" b="b"/>
              <a:pathLst>
                <a:path w="3933769" h="568543">
                  <a:moveTo>
                    <a:pt x="51868" y="0"/>
                  </a:moveTo>
                  <a:lnTo>
                    <a:pt x="3881901" y="0"/>
                  </a:lnTo>
                  <a:cubicBezTo>
                    <a:pt x="3910547" y="0"/>
                    <a:pt x="3933769" y="23222"/>
                    <a:pt x="3933769" y="51868"/>
                  </a:cubicBezTo>
                  <a:lnTo>
                    <a:pt x="3933769" y="516675"/>
                  </a:lnTo>
                  <a:cubicBezTo>
                    <a:pt x="3933769" y="545321"/>
                    <a:pt x="3910547" y="568543"/>
                    <a:pt x="3881901" y="568543"/>
                  </a:cubicBezTo>
                  <a:lnTo>
                    <a:pt x="51868" y="568543"/>
                  </a:lnTo>
                  <a:cubicBezTo>
                    <a:pt x="23222" y="568543"/>
                    <a:pt x="0" y="545321"/>
                    <a:pt x="0" y="516675"/>
                  </a:cubicBezTo>
                  <a:lnTo>
                    <a:pt x="0" y="51868"/>
                  </a:lnTo>
                  <a:cubicBezTo>
                    <a:pt x="0" y="23222"/>
                    <a:pt x="23222" y="0"/>
                    <a:pt x="51868" y="0"/>
                  </a:cubicBezTo>
                  <a:close/>
                </a:path>
              </a:pathLst>
            </a:custGeom>
            <a:solidFill>
              <a:srgbClr val="FFFFFF"/>
            </a:solidFill>
          </p:spPr>
        </p:sp>
        <p:sp>
          <p:nvSpPr>
            <p:cNvPr id="4" name="TextBox 4"/>
            <p:cNvSpPr txBox="1"/>
            <p:nvPr/>
          </p:nvSpPr>
          <p:spPr>
            <a:xfrm>
              <a:off x="0" y="-38100"/>
              <a:ext cx="3933769"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926721" y="4192080"/>
            <a:ext cx="7020548" cy="2157266"/>
            <a:chOff x="0" y="0"/>
            <a:chExt cx="1850250" cy="568543"/>
          </a:xfrm>
        </p:grpSpPr>
        <p:sp>
          <p:nvSpPr>
            <p:cNvPr id="6" name="Freeform 6"/>
            <p:cNvSpPr/>
            <p:nvPr/>
          </p:nvSpPr>
          <p:spPr>
            <a:xfrm>
              <a:off x="0" y="0"/>
              <a:ext cx="1850250" cy="568543"/>
            </a:xfrm>
            <a:custGeom>
              <a:avLst/>
              <a:gdLst/>
              <a:ahLst/>
              <a:cxnLst/>
              <a:rect l="l" t="t" r="r" b="b"/>
              <a:pathLst>
                <a:path w="1850250" h="568543">
                  <a:moveTo>
                    <a:pt x="110275" y="0"/>
                  </a:moveTo>
                  <a:lnTo>
                    <a:pt x="1739975" y="0"/>
                  </a:lnTo>
                  <a:cubicBezTo>
                    <a:pt x="1769222" y="0"/>
                    <a:pt x="1797271" y="11618"/>
                    <a:pt x="1817951" y="32299"/>
                  </a:cubicBezTo>
                  <a:cubicBezTo>
                    <a:pt x="1838632" y="52979"/>
                    <a:pt x="1850250" y="81028"/>
                    <a:pt x="1850250" y="110275"/>
                  </a:cubicBezTo>
                  <a:lnTo>
                    <a:pt x="1850250" y="458268"/>
                  </a:lnTo>
                  <a:cubicBezTo>
                    <a:pt x="1850250" y="487514"/>
                    <a:pt x="1838632" y="515563"/>
                    <a:pt x="1817951" y="536244"/>
                  </a:cubicBezTo>
                  <a:cubicBezTo>
                    <a:pt x="1797271" y="556925"/>
                    <a:pt x="1769222" y="568543"/>
                    <a:pt x="1739975" y="568543"/>
                  </a:cubicBezTo>
                  <a:lnTo>
                    <a:pt x="110275" y="568543"/>
                  </a:lnTo>
                  <a:cubicBezTo>
                    <a:pt x="81028" y="568543"/>
                    <a:pt x="52979" y="556925"/>
                    <a:pt x="32299" y="536244"/>
                  </a:cubicBezTo>
                  <a:cubicBezTo>
                    <a:pt x="11618" y="515563"/>
                    <a:pt x="0" y="487514"/>
                    <a:pt x="0" y="458268"/>
                  </a:cubicBezTo>
                  <a:lnTo>
                    <a:pt x="0" y="110275"/>
                  </a:lnTo>
                  <a:cubicBezTo>
                    <a:pt x="0" y="81028"/>
                    <a:pt x="11618" y="52979"/>
                    <a:pt x="32299" y="32299"/>
                  </a:cubicBezTo>
                  <a:cubicBezTo>
                    <a:pt x="52979" y="11618"/>
                    <a:pt x="81028" y="0"/>
                    <a:pt x="110275" y="0"/>
                  </a:cubicBezTo>
                  <a:close/>
                </a:path>
              </a:pathLst>
            </a:custGeom>
            <a:solidFill>
              <a:srgbClr val="FFFFFF"/>
            </a:solidFill>
          </p:spPr>
        </p:sp>
        <p:sp>
          <p:nvSpPr>
            <p:cNvPr id="7" name="TextBox 7"/>
            <p:cNvSpPr txBox="1"/>
            <p:nvPr/>
          </p:nvSpPr>
          <p:spPr>
            <a:xfrm>
              <a:off x="0" y="-38100"/>
              <a:ext cx="1850250"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926721" y="4192080"/>
            <a:ext cx="7258752" cy="2157266"/>
            <a:chOff x="0" y="0"/>
            <a:chExt cx="1913028" cy="568543"/>
          </a:xfrm>
        </p:grpSpPr>
        <p:sp>
          <p:nvSpPr>
            <p:cNvPr id="9" name="Freeform 9"/>
            <p:cNvSpPr/>
            <p:nvPr/>
          </p:nvSpPr>
          <p:spPr>
            <a:xfrm>
              <a:off x="0" y="0"/>
              <a:ext cx="1913028" cy="568543"/>
            </a:xfrm>
            <a:custGeom>
              <a:avLst/>
              <a:gdLst/>
              <a:ahLst/>
              <a:cxnLst/>
              <a:rect l="l" t="t" r="r" b="b"/>
              <a:pathLst>
                <a:path w="1913028" h="568543">
                  <a:moveTo>
                    <a:pt x="106656" y="0"/>
                  </a:moveTo>
                  <a:lnTo>
                    <a:pt x="1806372" y="0"/>
                  </a:lnTo>
                  <a:cubicBezTo>
                    <a:pt x="1865276" y="0"/>
                    <a:pt x="1913028" y="47752"/>
                    <a:pt x="1913028" y="106656"/>
                  </a:cubicBezTo>
                  <a:lnTo>
                    <a:pt x="1913028" y="461886"/>
                  </a:lnTo>
                  <a:cubicBezTo>
                    <a:pt x="1913028" y="490173"/>
                    <a:pt x="1901791" y="517302"/>
                    <a:pt x="1881789" y="537304"/>
                  </a:cubicBezTo>
                  <a:cubicBezTo>
                    <a:pt x="1861787" y="557306"/>
                    <a:pt x="1834659" y="568543"/>
                    <a:pt x="1806372" y="568543"/>
                  </a:cubicBezTo>
                  <a:lnTo>
                    <a:pt x="106656" y="568543"/>
                  </a:lnTo>
                  <a:cubicBezTo>
                    <a:pt x="78369" y="568543"/>
                    <a:pt x="51241" y="557306"/>
                    <a:pt x="31239" y="537304"/>
                  </a:cubicBezTo>
                  <a:cubicBezTo>
                    <a:pt x="11237" y="517302"/>
                    <a:pt x="0" y="490173"/>
                    <a:pt x="0" y="461886"/>
                  </a:cubicBezTo>
                  <a:lnTo>
                    <a:pt x="0" y="106656"/>
                  </a:lnTo>
                  <a:cubicBezTo>
                    <a:pt x="0" y="78369"/>
                    <a:pt x="11237" y="51241"/>
                    <a:pt x="31239" y="31239"/>
                  </a:cubicBezTo>
                  <a:cubicBezTo>
                    <a:pt x="51241" y="11237"/>
                    <a:pt x="78369" y="0"/>
                    <a:pt x="106656" y="0"/>
                  </a:cubicBezTo>
                  <a:close/>
                </a:path>
              </a:pathLst>
            </a:custGeom>
            <a:solidFill>
              <a:srgbClr val="ABBADA"/>
            </a:solidFill>
          </p:spPr>
        </p:sp>
        <p:sp>
          <p:nvSpPr>
            <p:cNvPr id="10" name="TextBox 10"/>
            <p:cNvSpPr txBox="1"/>
            <p:nvPr/>
          </p:nvSpPr>
          <p:spPr>
            <a:xfrm>
              <a:off x="0" y="-38100"/>
              <a:ext cx="1913028"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926721" y="6562244"/>
            <a:ext cx="14926206" cy="2157266"/>
            <a:chOff x="0" y="0"/>
            <a:chExt cx="3933769" cy="568543"/>
          </a:xfrm>
        </p:grpSpPr>
        <p:sp>
          <p:nvSpPr>
            <p:cNvPr id="12" name="Freeform 12"/>
            <p:cNvSpPr/>
            <p:nvPr/>
          </p:nvSpPr>
          <p:spPr>
            <a:xfrm>
              <a:off x="0" y="0"/>
              <a:ext cx="3933769" cy="568543"/>
            </a:xfrm>
            <a:custGeom>
              <a:avLst/>
              <a:gdLst/>
              <a:ahLst/>
              <a:cxnLst/>
              <a:rect l="l" t="t" r="r" b="b"/>
              <a:pathLst>
                <a:path w="3933769" h="568543">
                  <a:moveTo>
                    <a:pt x="51868" y="0"/>
                  </a:moveTo>
                  <a:lnTo>
                    <a:pt x="3881901" y="0"/>
                  </a:lnTo>
                  <a:cubicBezTo>
                    <a:pt x="3910547" y="0"/>
                    <a:pt x="3933769" y="23222"/>
                    <a:pt x="3933769" y="51868"/>
                  </a:cubicBezTo>
                  <a:lnTo>
                    <a:pt x="3933769" y="516675"/>
                  </a:lnTo>
                  <a:cubicBezTo>
                    <a:pt x="3933769" y="545321"/>
                    <a:pt x="3910547" y="568543"/>
                    <a:pt x="3881901" y="568543"/>
                  </a:cubicBezTo>
                  <a:lnTo>
                    <a:pt x="51868" y="568543"/>
                  </a:lnTo>
                  <a:cubicBezTo>
                    <a:pt x="23222" y="568543"/>
                    <a:pt x="0" y="545321"/>
                    <a:pt x="0" y="516675"/>
                  </a:cubicBezTo>
                  <a:lnTo>
                    <a:pt x="0" y="51868"/>
                  </a:lnTo>
                  <a:cubicBezTo>
                    <a:pt x="0" y="23222"/>
                    <a:pt x="23222" y="0"/>
                    <a:pt x="51868" y="0"/>
                  </a:cubicBezTo>
                  <a:close/>
                </a:path>
              </a:pathLst>
            </a:custGeom>
            <a:solidFill>
              <a:srgbClr val="FFFFFF"/>
            </a:solidFill>
          </p:spPr>
        </p:sp>
        <p:sp>
          <p:nvSpPr>
            <p:cNvPr id="13" name="TextBox 13"/>
            <p:cNvSpPr txBox="1"/>
            <p:nvPr/>
          </p:nvSpPr>
          <p:spPr>
            <a:xfrm>
              <a:off x="0" y="-38100"/>
              <a:ext cx="3933769"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9185472" y="6562244"/>
            <a:ext cx="7667455" cy="2157266"/>
            <a:chOff x="0" y="0"/>
            <a:chExt cx="2020741" cy="568543"/>
          </a:xfrm>
        </p:grpSpPr>
        <p:sp>
          <p:nvSpPr>
            <p:cNvPr id="15" name="Freeform 15"/>
            <p:cNvSpPr/>
            <p:nvPr/>
          </p:nvSpPr>
          <p:spPr>
            <a:xfrm>
              <a:off x="0" y="0"/>
              <a:ext cx="2020741" cy="568543"/>
            </a:xfrm>
            <a:custGeom>
              <a:avLst/>
              <a:gdLst/>
              <a:ahLst/>
              <a:cxnLst/>
              <a:rect l="l" t="t" r="r" b="b"/>
              <a:pathLst>
                <a:path w="2020741" h="568543">
                  <a:moveTo>
                    <a:pt x="100971" y="0"/>
                  </a:moveTo>
                  <a:lnTo>
                    <a:pt x="1919770" y="0"/>
                  </a:lnTo>
                  <a:cubicBezTo>
                    <a:pt x="1946549" y="0"/>
                    <a:pt x="1972231" y="10638"/>
                    <a:pt x="1991167" y="29574"/>
                  </a:cubicBezTo>
                  <a:cubicBezTo>
                    <a:pt x="2010103" y="48510"/>
                    <a:pt x="2020741" y="74192"/>
                    <a:pt x="2020741" y="100971"/>
                  </a:cubicBezTo>
                  <a:lnTo>
                    <a:pt x="2020741" y="467572"/>
                  </a:lnTo>
                  <a:cubicBezTo>
                    <a:pt x="2020741" y="523336"/>
                    <a:pt x="1975535" y="568543"/>
                    <a:pt x="1919770" y="568543"/>
                  </a:cubicBezTo>
                  <a:lnTo>
                    <a:pt x="100971" y="568543"/>
                  </a:lnTo>
                  <a:cubicBezTo>
                    <a:pt x="45206" y="568543"/>
                    <a:pt x="0" y="523336"/>
                    <a:pt x="0" y="467572"/>
                  </a:cubicBezTo>
                  <a:lnTo>
                    <a:pt x="0" y="100971"/>
                  </a:lnTo>
                  <a:cubicBezTo>
                    <a:pt x="0" y="45206"/>
                    <a:pt x="45206" y="0"/>
                    <a:pt x="100971" y="0"/>
                  </a:cubicBezTo>
                  <a:close/>
                </a:path>
              </a:pathLst>
            </a:custGeom>
            <a:solidFill>
              <a:srgbClr val="ABBADA"/>
            </a:solidFill>
          </p:spPr>
        </p:sp>
        <p:sp>
          <p:nvSpPr>
            <p:cNvPr id="16" name="TextBox 16"/>
            <p:cNvSpPr txBox="1"/>
            <p:nvPr/>
          </p:nvSpPr>
          <p:spPr>
            <a:xfrm>
              <a:off x="0" y="-38100"/>
              <a:ext cx="2020741"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435073" y="4779066"/>
            <a:ext cx="983295" cy="98329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3163"/>
            </a:solidFill>
          </p:spPr>
        </p:sp>
        <p:sp>
          <p:nvSpPr>
            <p:cNvPr id="19" name="TextBox 19"/>
            <p:cNvSpPr txBox="1"/>
            <p:nvPr/>
          </p:nvSpPr>
          <p:spPr>
            <a:xfrm>
              <a:off x="76200" y="0"/>
              <a:ext cx="660400" cy="736600"/>
            </a:xfrm>
            <a:prstGeom prst="rect">
              <a:avLst/>
            </a:prstGeom>
          </p:spPr>
          <p:txBody>
            <a:bodyPr lIns="50800" tIns="50800" rIns="50800" bIns="50800" rtlCol="0" anchor="ctr"/>
            <a:lstStyle/>
            <a:p>
              <a:pPr algn="ctr">
                <a:lnSpc>
                  <a:spcPts val="2799"/>
                </a:lnSpc>
              </a:pPr>
              <a:r>
                <a:rPr lang="en-US" sz="1999">
                  <a:solidFill>
                    <a:srgbClr val="FFFFFF"/>
                  </a:solidFill>
                  <a:latin typeface="Bungee"/>
                  <a:ea typeface="Bungee"/>
                  <a:cs typeface="Bungee"/>
                  <a:sym typeface="Bungee"/>
                </a:rPr>
                <a:t>1</a:t>
              </a:r>
            </a:p>
          </p:txBody>
        </p:sp>
      </p:grpSp>
      <p:grpSp>
        <p:nvGrpSpPr>
          <p:cNvPr id="20" name="Group 20"/>
          <p:cNvGrpSpPr/>
          <p:nvPr/>
        </p:nvGrpSpPr>
        <p:grpSpPr>
          <a:xfrm>
            <a:off x="8693825" y="4779066"/>
            <a:ext cx="983295" cy="983295"/>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4A75"/>
            </a:solidFill>
          </p:spPr>
        </p:sp>
        <p:sp>
          <p:nvSpPr>
            <p:cNvPr id="22" name="TextBox 22"/>
            <p:cNvSpPr txBox="1"/>
            <p:nvPr/>
          </p:nvSpPr>
          <p:spPr>
            <a:xfrm>
              <a:off x="76200" y="0"/>
              <a:ext cx="660400" cy="736600"/>
            </a:xfrm>
            <a:prstGeom prst="rect">
              <a:avLst/>
            </a:prstGeom>
          </p:spPr>
          <p:txBody>
            <a:bodyPr lIns="50800" tIns="50800" rIns="50800" bIns="50800" rtlCol="0" anchor="ctr"/>
            <a:lstStyle/>
            <a:p>
              <a:pPr algn="ctr">
                <a:lnSpc>
                  <a:spcPts val="2799"/>
                </a:lnSpc>
              </a:pPr>
              <a:r>
                <a:rPr lang="en-US" sz="1999">
                  <a:solidFill>
                    <a:srgbClr val="FFFFFF"/>
                  </a:solidFill>
                  <a:latin typeface="Bungee"/>
                  <a:ea typeface="Bungee"/>
                  <a:cs typeface="Bungee"/>
                  <a:sym typeface="Bungee"/>
                </a:rPr>
                <a:t>2</a:t>
              </a:r>
            </a:p>
          </p:txBody>
        </p:sp>
      </p:grpSp>
      <p:grpSp>
        <p:nvGrpSpPr>
          <p:cNvPr id="23" name="Group 23"/>
          <p:cNvGrpSpPr/>
          <p:nvPr/>
        </p:nvGrpSpPr>
        <p:grpSpPr>
          <a:xfrm>
            <a:off x="8693825" y="7149229"/>
            <a:ext cx="983295" cy="98329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3163"/>
            </a:solidFill>
          </p:spPr>
        </p:sp>
        <p:sp>
          <p:nvSpPr>
            <p:cNvPr id="25" name="TextBox 25"/>
            <p:cNvSpPr txBox="1"/>
            <p:nvPr/>
          </p:nvSpPr>
          <p:spPr>
            <a:xfrm>
              <a:off x="76200" y="0"/>
              <a:ext cx="660400" cy="736600"/>
            </a:xfrm>
            <a:prstGeom prst="rect">
              <a:avLst/>
            </a:prstGeom>
          </p:spPr>
          <p:txBody>
            <a:bodyPr lIns="50800" tIns="50800" rIns="50800" bIns="50800" rtlCol="0" anchor="ctr"/>
            <a:lstStyle/>
            <a:p>
              <a:pPr algn="ctr">
                <a:lnSpc>
                  <a:spcPts val="2799"/>
                </a:lnSpc>
              </a:pPr>
              <a:r>
                <a:rPr lang="en-US" sz="1999">
                  <a:solidFill>
                    <a:srgbClr val="FFFFFF"/>
                  </a:solidFill>
                  <a:latin typeface="Bungee"/>
                  <a:ea typeface="Bungee"/>
                  <a:cs typeface="Bungee"/>
                  <a:sym typeface="Bungee"/>
                </a:rPr>
                <a:t>4</a:t>
              </a:r>
            </a:p>
          </p:txBody>
        </p:sp>
      </p:grpSp>
      <p:grpSp>
        <p:nvGrpSpPr>
          <p:cNvPr id="26" name="Group 26"/>
          <p:cNvGrpSpPr/>
          <p:nvPr/>
        </p:nvGrpSpPr>
        <p:grpSpPr>
          <a:xfrm>
            <a:off x="1561365" y="7149229"/>
            <a:ext cx="983295" cy="983295"/>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A4A73"/>
            </a:solidFill>
          </p:spPr>
        </p:sp>
        <p:sp>
          <p:nvSpPr>
            <p:cNvPr id="28" name="TextBox 28"/>
            <p:cNvSpPr txBox="1"/>
            <p:nvPr/>
          </p:nvSpPr>
          <p:spPr>
            <a:xfrm>
              <a:off x="76200" y="0"/>
              <a:ext cx="660400" cy="736600"/>
            </a:xfrm>
            <a:prstGeom prst="rect">
              <a:avLst/>
            </a:prstGeom>
          </p:spPr>
          <p:txBody>
            <a:bodyPr lIns="50800" tIns="50800" rIns="50800" bIns="50800" rtlCol="0" anchor="ctr"/>
            <a:lstStyle/>
            <a:p>
              <a:pPr algn="ctr">
                <a:lnSpc>
                  <a:spcPts val="2799"/>
                </a:lnSpc>
              </a:pPr>
              <a:r>
                <a:rPr lang="en-US" sz="1999">
                  <a:solidFill>
                    <a:srgbClr val="FFFFFF"/>
                  </a:solidFill>
                  <a:latin typeface="Bungee"/>
                  <a:ea typeface="Bungee"/>
                  <a:cs typeface="Bungee"/>
                  <a:sym typeface="Bungee"/>
                </a:rPr>
                <a:t>3</a:t>
              </a:r>
            </a:p>
          </p:txBody>
        </p:sp>
      </p:grpSp>
      <p:sp>
        <p:nvSpPr>
          <p:cNvPr id="29" name="Freeform 29"/>
          <p:cNvSpPr/>
          <p:nvPr/>
        </p:nvSpPr>
        <p:spPr>
          <a:xfrm rot="463585">
            <a:off x="15793743" y="5893599"/>
            <a:ext cx="2895323" cy="4114800"/>
          </a:xfrm>
          <a:custGeom>
            <a:avLst/>
            <a:gdLst/>
            <a:ahLst/>
            <a:cxnLst/>
            <a:rect l="l" t="t" r="r" b="b"/>
            <a:pathLst>
              <a:path w="2895323" h="4114800">
                <a:moveTo>
                  <a:pt x="0" y="0"/>
                </a:moveTo>
                <a:lnTo>
                  <a:pt x="2895323" y="0"/>
                </a:lnTo>
                <a:lnTo>
                  <a:pt x="2895323" y="4114800"/>
                </a:lnTo>
                <a:lnTo>
                  <a:pt x="0" y="41148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0" name="TextBox 30"/>
          <p:cNvSpPr txBox="1"/>
          <p:nvPr/>
        </p:nvSpPr>
        <p:spPr>
          <a:xfrm>
            <a:off x="3400740" y="1972466"/>
            <a:ext cx="11486520" cy="1026795"/>
          </a:xfrm>
          <a:prstGeom prst="rect">
            <a:avLst/>
          </a:prstGeom>
        </p:spPr>
        <p:txBody>
          <a:bodyPr lIns="0" tIns="0" rIns="0" bIns="0" rtlCol="0" anchor="t">
            <a:spAutoFit/>
          </a:bodyPr>
          <a:lstStyle/>
          <a:p>
            <a:pPr algn="ctr">
              <a:lnSpc>
                <a:spcPts val="6480"/>
              </a:lnSpc>
            </a:pPr>
            <a:r>
              <a:rPr lang="en-US" sz="7200">
                <a:solidFill>
                  <a:srgbClr val="1D3163"/>
                </a:solidFill>
                <a:latin typeface="Bungee"/>
                <a:ea typeface="Bungee"/>
                <a:cs typeface="Bungee"/>
                <a:sym typeface="Bungee"/>
              </a:rPr>
              <a:t>problems</a:t>
            </a:r>
          </a:p>
        </p:txBody>
      </p:sp>
      <p:sp>
        <p:nvSpPr>
          <p:cNvPr id="31" name="TextBox 31"/>
          <p:cNvSpPr txBox="1"/>
          <p:nvPr/>
        </p:nvSpPr>
        <p:spPr>
          <a:xfrm>
            <a:off x="3268478" y="4686208"/>
            <a:ext cx="4575237" cy="1578587"/>
          </a:xfrm>
          <a:prstGeom prst="rect">
            <a:avLst/>
          </a:prstGeom>
        </p:spPr>
        <p:txBody>
          <a:bodyPr lIns="0" tIns="0" rIns="0" bIns="0" rtlCol="0" anchor="t">
            <a:spAutoFit/>
          </a:bodyPr>
          <a:lstStyle/>
          <a:p>
            <a:pPr algn="ctr">
              <a:lnSpc>
                <a:spcPts val="3077"/>
              </a:lnSpc>
            </a:pPr>
            <a:r>
              <a:rPr lang="en-US" sz="2798" b="1">
                <a:solidFill>
                  <a:srgbClr val="1D3163"/>
                </a:solidFill>
                <a:latin typeface="Quicksand Bold"/>
                <a:ea typeface="Quicksand Bold"/>
                <a:cs typeface="Quicksand Bold"/>
                <a:sym typeface="Quicksand Bold"/>
              </a:rPr>
              <a:t>Students forget tasks due to reliance on memory and scattered notes.</a:t>
            </a:r>
          </a:p>
          <a:p>
            <a:pPr algn="ctr">
              <a:lnSpc>
                <a:spcPts val="3077"/>
              </a:lnSpc>
            </a:pPr>
            <a:endParaRPr lang="en-US" sz="2798" b="1">
              <a:solidFill>
                <a:srgbClr val="1D3163"/>
              </a:solidFill>
              <a:latin typeface="Quicksand Bold"/>
              <a:ea typeface="Quicksand Bold"/>
              <a:cs typeface="Quicksand Bold"/>
              <a:sym typeface="Quicksand Bold"/>
            </a:endParaRPr>
          </a:p>
        </p:txBody>
      </p:sp>
      <p:sp>
        <p:nvSpPr>
          <p:cNvPr id="32" name="TextBox 32"/>
          <p:cNvSpPr txBox="1"/>
          <p:nvPr/>
        </p:nvSpPr>
        <p:spPr>
          <a:xfrm>
            <a:off x="10605137" y="4686208"/>
            <a:ext cx="4828126" cy="1384277"/>
          </a:xfrm>
          <a:prstGeom prst="rect">
            <a:avLst/>
          </a:prstGeom>
        </p:spPr>
        <p:txBody>
          <a:bodyPr lIns="0" tIns="0" rIns="0" bIns="0" rtlCol="0" anchor="t">
            <a:spAutoFit/>
          </a:bodyPr>
          <a:lstStyle/>
          <a:p>
            <a:pPr algn="ctr">
              <a:lnSpc>
                <a:spcPts val="2747"/>
              </a:lnSpc>
            </a:pPr>
            <a:r>
              <a:rPr lang="en-US" sz="2498" b="1">
                <a:solidFill>
                  <a:srgbClr val="1D3163"/>
                </a:solidFill>
                <a:latin typeface="Quicksand Bold"/>
                <a:ea typeface="Quicksand Bold"/>
                <a:cs typeface="Quicksand Bold"/>
                <a:sym typeface="Quicksand Bold"/>
              </a:rPr>
              <a:t>Deadlines are missed because students fail to systematically monitor multiple assignments.</a:t>
            </a:r>
          </a:p>
          <a:p>
            <a:pPr algn="ctr">
              <a:lnSpc>
                <a:spcPts val="2747"/>
              </a:lnSpc>
            </a:pPr>
            <a:endParaRPr lang="en-US" sz="2498" b="1">
              <a:solidFill>
                <a:srgbClr val="1D3163"/>
              </a:solidFill>
              <a:latin typeface="Quicksand Bold"/>
              <a:ea typeface="Quicksand Bold"/>
              <a:cs typeface="Quicksand Bold"/>
              <a:sym typeface="Quicksand Bold"/>
            </a:endParaRPr>
          </a:p>
        </p:txBody>
      </p:sp>
      <p:sp>
        <p:nvSpPr>
          <p:cNvPr id="33" name="TextBox 33"/>
          <p:cNvSpPr txBox="1"/>
          <p:nvPr/>
        </p:nvSpPr>
        <p:spPr>
          <a:xfrm>
            <a:off x="2999784" y="7056371"/>
            <a:ext cx="5112625" cy="1501117"/>
          </a:xfrm>
          <a:prstGeom prst="rect">
            <a:avLst/>
          </a:prstGeom>
        </p:spPr>
        <p:txBody>
          <a:bodyPr lIns="0" tIns="0" rIns="0" bIns="0" rtlCol="0" anchor="t">
            <a:spAutoFit/>
          </a:bodyPr>
          <a:lstStyle/>
          <a:p>
            <a:pPr algn="ctr">
              <a:lnSpc>
                <a:spcPts val="2967"/>
              </a:lnSpc>
            </a:pPr>
            <a:r>
              <a:rPr lang="en-US" sz="2698" b="1">
                <a:solidFill>
                  <a:srgbClr val="1D3163"/>
                </a:solidFill>
                <a:latin typeface="Quicksand Bold"/>
                <a:ea typeface="Quicksand Bold"/>
                <a:cs typeface="Quicksand Bold"/>
                <a:sym typeface="Quicksand Bold"/>
              </a:rPr>
              <a:t>Workload lacks structure, making effective prioritization almost impossible.</a:t>
            </a:r>
          </a:p>
          <a:p>
            <a:pPr algn="ctr">
              <a:lnSpc>
                <a:spcPts val="2967"/>
              </a:lnSpc>
            </a:pPr>
            <a:endParaRPr lang="en-US" sz="2698" b="1">
              <a:solidFill>
                <a:srgbClr val="1D3163"/>
              </a:solidFill>
              <a:latin typeface="Quicksand Bold"/>
              <a:ea typeface="Quicksand Bold"/>
              <a:cs typeface="Quicksand Bold"/>
              <a:sym typeface="Quicksand Bold"/>
            </a:endParaRPr>
          </a:p>
        </p:txBody>
      </p:sp>
      <p:sp>
        <p:nvSpPr>
          <p:cNvPr id="34" name="TextBox 34"/>
          <p:cNvSpPr txBox="1"/>
          <p:nvPr/>
        </p:nvSpPr>
        <p:spPr>
          <a:xfrm>
            <a:off x="10314474" y="6899844"/>
            <a:ext cx="5839680" cy="1501117"/>
          </a:xfrm>
          <a:prstGeom prst="rect">
            <a:avLst/>
          </a:prstGeom>
        </p:spPr>
        <p:txBody>
          <a:bodyPr lIns="0" tIns="0" rIns="0" bIns="0" rtlCol="0" anchor="t">
            <a:spAutoFit/>
          </a:bodyPr>
          <a:lstStyle/>
          <a:p>
            <a:pPr algn="ctr">
              <a:lnSpc>
                <a:spcPts val="2967"/>
              </a:lnSpc>
            </a:pPr>
            <a:r>
              <a:rPr lang="en-US" sz="2698" b="1">
                <a:solidFill>
                  <a:srgbClr val="1D3163"/>
                </a:solidFill>
                <a:latin typeface="Quicksand Bold"/>
                <a:ea typeface="Quicksand Bold"/>
                <a:cs typeface="Quicksand Bold"/>
                <a:sym typeface="Quicksand Bold"/>
              </a:rPr>
              <a:t>Stress increases significantly when pending tasks quickly pile up and become overwhelming.</a:t>
            </a:r>
          </a:p>
          <a:p>
            <a:pPr algn="ctr">
              <a:lnSpc>
                <a:spcPts val="2967"/>
              </a:lnSpc>
            </a:pPr>
            <a:endParaRPr lang="en-US" sz="2698" b="1">
              <a:solidFill>
                <a:srgbClr val="1D3163"/>
              </a:solidFill>
              <a:latin typeface="Quicksand Bold"/>
              <a:ea typeface="Quicksand Bold"/>
              <a:cs typeface="Quicksand Bold"/>
              <a:sym typeface="Quicksand Bold"/>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947196" y="3887123"/>
            <a:ext cx="15539682" cy="5371177"/>
            <a:chOff x="0" y="0"/>
            <a:chExt cx="4092756" cy="1414631"/>
          </a:xfrm>
        </p:grpSpPr>
        <p:sp>
          <p:nvSpPr>
            <p:cNvPr id="3" name="Freeform 3"/>
            <p:cNvSpPr/>
            <p:nvPr/>
          </p:nvSpPr>
          <p:spPr>
            <a:xfrm>
              <a:off x="0" y="0"/>
              <a:ext cx="4092756" cy="1414631"/>
            </a:xfrm>
            <a:custGeom>
              <a:avLst/>
              <a:gdLst/>
              <a:ahLst/>
              <a:cxnLst/>
              <a:rect l="l" t="t" r="r" b="b"/>
              <a:pathLst>
                <a:path w="4092756" h="1414631">
                  <a:moveTo>
                    <a:pt x="39856" y="0"/>
                  </a:moveTo>
                  <a:lnTo>
                    <a:pt x="4052900" y="0"/>
                  </a:lnTo>
                  <a:cubicBezTo>
                    <a:pt x="4074911" y="0"/>
                    <a:pt x="4092756" y="17844"/>
                    <a:pt x="4092756" y="39856"/>
                  </a:cubicBezTo>
                  <a:lnTo>
                    <a:pt x="4092756" y="1374775"/>
                  </a:lnTo>
                  <a:cubicBezTo>
                    <a:pt x="4092756" y="1385345"/>
                    <a:pt x="4088557" y="1395483"/>
                    <a:pt x="4081082" y="1402957"/>
                  </a:cubicBezTo>
                  <a:cubicBezTo>
                    <a:pt x="4073608" y="1410432"/>
                    <a:pt x="4063470" y="1414631"/>
                    <a:pt x="4052900" y="1414631"/>
                  </a:cubicBezTo>
                  <a:lnTo>
                    <a:pt x="39856" y="1414631"/>
                  </a:lnTo>
                  <a:cubicBezTo>
                    <a:pt x="17844" y="1414631"/>
                    <a:pt x="0" y="1396787"/>
                    <a:pt x="0" y="1374775"/>
                  </a:cubicBezTo>
                  <a:lnTo>
                    <a:pt x="0" y="39856"/>
                  </a:lnTo>
                  <a:cubicBezTo>
                    <a:pt x="0" y="17844"/>
                    <a:pt x="17844" y="0"/>
                    <a:pt x="39856" y="0"/>
                  </a:cubicBezTo>
                  <a:close/>
                </a:path>
              </a:pathLst>
            </a:custGeom>
            <a:solidFill>
              <a:srgbClr val="FFFFFF"/>
            </a:solidFill>
          </p:spPr>
        </p:sp>
        <p:sp>
          <p:nvSpPr>
            <p:cNvPr id="4" name="TextBox 4"/>
            <p:cNvSpPr txBox="1"/>
            <p:nvPr/>
          </p:nvSpPr>
          <p:spPr>
            <a:xfrm>
              <a:off x="0" y="-38100"/>
              <a:ext cx="4092756" cy="145273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5096167" y="4796176"/>
            <a:ext cx="788158" cy="788158"/>
          </a:xfrm>
          <a:custGeom>
            <a:avLst/>
            <a:gdLst/>
            <a:ahLst/>
            <a:cxnLst/>
            <a:rect l="l" t="t" r="r" b="b"/>
            <a:pathLst>
              <a:path w="788158" h="788158">
                <a:moveTo>
                  <a:pt x="0" y="0"/>
                </a:moveTo>
                <a:lnTo>
                  <a:pt x="788158" y="0"/>
                </a:lnTo>
                <a:lnTo>
                  <a:pt x="788158" y="788158"/>
                </a:lnTo>
                <a:lnTo>
                  <a:pt x="0" y="788158"/>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5096167" y="6962796"/>
            <a:ext cx="788158" cy="788158"/>
          </a:xfrm>
          <a:custGeom>
            <a:avLst/>
            <a:gdLst/>
            <a:ahLst/>
            <a:cxnLst/>
            <a:rect l="l" t="t" r="r" b="b"/>
            <a:pathLst>
              <a:path w="788158" h="788158">
                <a:moveTo>
                  <a:pt x="0" y="0"/>
                </a:moveTo>
                <a:lnTo>
                  <a:pt x="788158" y="0"/>
                </a:lnTo>
                <a:lnTo>
                  <a:pt x="788158" y="788158"/>
                </a:lnTo>
                <a:lnTo>
                  <a:pt x="0" y="788158"/>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7" name="Freeform 7"/>
          <p:cNvSpPr/>
          <p:nvPr/>
        </p:nvSpPr>
        <p:spPr>
          <a:xfrm>
            <a:off x="11287701" y="4796176"/>
            <a:ext cx="788158" cy="788158"/>
          </a:xfrm>
          <a:custGeom>
            <a:avLst/>
            <a:gdLst/>
            <a:ahLst/>
            <a:cxnLst/>
            <a:rect l="l" t="t" r="r" b="b"/>
            <a:pathLst>
              <a:path w="788158" h="788158">
                <a:moveTo>
                  <a:pt x="0" y="0"/>
                </a:moveTo>
                <a:lnTo>
                  <a:pt x="788159" y="0"/>
                </a:lnTo>
                <a:lnTo>
                  <a:pt x="788159" y="788158"/>
                </a:lnTo>
                <a:lnTo>
                  <a:pt x="0" y="788158"/>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8" name="Freeform 8"/>
          <p:cNvSpPr/>
          <p:nvPr/>
        </p:nvSpPr>
        <p:spPr>
          <a:xfrm>
            <a:off x="11287701" y="6962796"/>
            <a:ext cx="788158" cy="788158"/>
          </a:xfrm>
          <a:custGeom>
            <a:avLst/>
            <a:gdLst/>
            <a:ahLst/>
            <a:cxnLst/>
            <a:rect l="l" t="t" r="r" b="b"/>
            <a:pathLst>
              <a:path w="788158" h="788158">
                <a:moveTo>
                  <a:pt x="0" y="0"/>
                </a:moveTo>
                <a:lnTo>
                  <a:pt x="788159" y="0"/>
                </a:lnTo>
                <a:lnTo>
                  <a:pt x="788159" y="788158"/>
                </a:lnTo>
                <a:lnTo>
                  <a:pt x="0" y="788158"/>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grpSp>
        <p:nvGrpSpPr>
          <p:cNvPr id="9" name="Group 9"/>
          <p:cNvGrpSpPr/>
          <p:nvPr/>
        </p:nvGrpSpPr>
        <p:grpSpPr>
          <a:xfrm>
            <a:off x="3595468" y="1394844"/>
            <a:ext cx="1318500" cy="1969385"/>
            <a:chOff x="0" y="0"/>
            <a:chExt cx="544168" cy="812800"/>
          </a:xfrm>
        </p:grpSpPr>
        <p:sp>
          <p:nvSpPr>
            <p:cNvPr id="10" name="Freeform 10"/>
            <p:cNvSpPr/>
            <p:nvPr/>
          </p:nvSpPr>
          <p:spPr>
            <a:xfrm>
              <a:off x="0" y="0"/>
              <a:ext cx="544168" cy="812800"/>
            </a:xfrm>
            <a:custGeom>
              <a:avLst/>
              <a:gdLst/>
              <a:ahLst/>
              <a:cxnLst/>
              <a:rect l="l" t="t" r="r" b="b"/>
              <a:pathLst>
                <a:path w="544168" h="812800">
                  <a:moveTo>
                    <a:pt x="272084" y="0"/>
                  </a:moveTo>
                  <a:cubicBezTo>
                    <a:pt x="121816" y="0"/>
                    <a:pt x="0" y="181951"/>
                    <a:pt x="0" y="406400"/>
                  </a:cubicBezTo>
                  <a:cubicBezTo>
                    <a:pt x="0" y="630849"/>
                    <a:pt x="121816" y="812800"/>
                    <a:pt x="272084" y="812800"/>
                  </a:cubicBezTo>
                  <a:cubicBezTo>
                    <a:pt x="422352" y="812800"/>
                    <a:pt x="544168" y="630849"/>
                    <a:pt x="544168" y="406400"/>
                  </a:cubicBezTo>
                  <a:cubicBezTo>
                    <a:pt x="544168" y="181951"/>
                    <a:pt x="422352" y="0"/>
                    <a:pt x="272084" y="0"/>
                  </a:cubicBezTo>
                  <a:close/>
                </a:path>
              </a:pathLst>
            </a:custGeom>
            <a:solidFill>
              <a:srgbClr val="CB5A2E"/>
            </a:solidFill>
          </p:spPr>
        </p:sp>
        <p:sp>
          <p:nvSpPr>
            <p:cNvPr id="11" name="TextBox 11"/>
            <p:cNvSpPr txBox="1"/>
            <p:nvPr/>
          </p:nvSpPr>
          <p:spPr>
            <a:xfrm>
              <a:off x="51016" y="38100"/>
              <a:ext cx="442137"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298652" y="5043988"/>
            <a:ext cx="3955352" cy="4114800"/>
          </a:xfrm>
          <a:custGeom>
            <a:avLst/>
            <a:gdLst/>
            <a:ahLst/>
            <a:cxnLst/>
            <a:rect l="l" t="t" r="r" b="b"/>
            <a:pathLst>
              <a:path w="3955352" h="4114800">
                <a:moveTo>
                  <a:pt x="0" y="0"/>
                </a:moveTo>
                <a:lnTo>
                  <a:pt x="3955352" y="0"/>
                </a:lnTo>
                <a:lnTo>
                  <a:pt x="3955352" y="4114800"/>
                </a:lnTo>
                <a:lnTo>
                  <a:pt x="0" y="4114800"/>
                </a:lnTo>
                <a:lnTo>
                  <a:pt x="0" y="0"/>
                </a:lnTo>
                <a:close/>
              </a:path>
            </a:pathLst>
          </a:custGeom>
          <a:blipFill>
            <a:blip r:embed="rId4" cstate="print">
              <a:extLst>
                <a:ext uri="{96DAC541-7B7A-43D3-8B79-37D633B846F1}">
                  <asvg:svgBlip xmlns:asvg="http://schemas.microsoft.com/office/drawing/2016/SVG/main" xmlns="" r:embed="rId5"/>
                </a:ext>
              </a:extLst>
            </a:blip>
            <a:stretch>
              <a:fillRect/>
            </a:stretch>
          </a:blipFill>
        </p:spPr>
      </p:sp>
      <p:sp>
        <p:nvSpPr>
          <p:cNvPr id="13" name="Freeform 13"/>
          <p:cNvSpPr/>
          <p:nvPr/>
        </p:nvSpPr>
        <p:spPr>
          <a:xfrm>
            <a:off x="2834725" y="1727590"/>
            <a:ext cx="1809451" cy="1909710"/>
          </a:xfrm>
          <a:custGeom>
            <a:avLst/>
            <a:gdLst/>
            <a:ahLst/>
            <a:cxnLst/>
            <a:rect l="l" t="t" r="r" b="b"/>
            <a:pathLst>
              <a:path w="1809451" h="1909710">
                <a:moveTo>
                  <a:pt x="0" y="0"/>
                </a:moveTo>
                <a:lnTo>
                  <a:pt x="1809451" y="0"/>
                </a:lnTo>
                <a:lnTo>
                  <a:pt x="1809451" y="1909710"/>
                </a:lnTo>
                <a:lnTo>
                  <a:pt x="0" y="1909710"/>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4" name="TextBox 14"/>
          <p:cNvSpPr txBox="1"/>
          <p:nvPr/>
        </p:nvSpPr>
        <p:spPr>
          <a:xfrm>
            <a:off x="5096167" y="1430648"/>
            <a:ext cx="12163133" cy="1588783"/>
          </a:xfrm>
          <a:prstGeom prst="rect">
            <a:avLst/>
          </a:prstGeom>
        </p:spPr>
        <p:txBody>
          <a:bodyPr lIns="0" tIns="0" rIns="0" bIns="0" rtlCol="0" anchor="t">
            <a:spAutoFit/>
          </a:bodyPr>
          <a:lstStyle/>
          <a:p>
            <a:pPr algn="l">
              <a:lnSpc>
                <a:spcPts val="5580"/>
              </a:lnSpc>
            </a:pPr>
            <a:r>
              <a:rPr lang="en-US" sz="6200">
                <a:solidFill>
                  <a:srgbClr val="1D3163"/>
                </a:solidFill>
                <a:latin typeface="Bungee"/>
                <a:ea typeface="Bungee"/>
                <a:cs typeface="Bungee"/>
                <a:sym typeface="Bungee"/>
              </a:rPr>
              <a:t>Importance of effective Time Management</a:t>
            </a:r>
          </a:p>
        </p:txBody>
      </p:sp>
      <p:sp>
        <p:nvSpPr>
          <p:cNvPr id="15" name="TextBox 15"/>
          <p:cNvSpPr txBox="1"/>
          <p:nvPr/>
        </p:nvSpPr>
        <p:spPr>
          <a:xfrm>
            <a:off x="6252485" y="4734387"/>
            <a:ext cx="4191547" cy="1589404"/>
          </a:xfrm>
          <a:prstGeom prst="rect">
            <a:avLst/>
          </a:prstGeom>
        </p:spPr>
        <p:txBody>
          <a:bodyPr lIns="0" tIns="0" rIns="0" bIns="0" rtlCol="0" anchor="t">
            <a:spAutoFit/>
          </a:bodyPr>
          <a:lstStyle/>
          <a:p>
            <a:pPr algn="ctr">
              <a:lnSpc>
                <a:spcPts val="3220"/>
              </a:lnSpc>
            </a:pPr>
            <a:r>
              <a:rPr lang="en-US" sz="2300" b="1">
                <a:solidFill>
                  <a:srgbClr val="1D3163"/>
                </a:solidFill>
                <a:latin typeface="Quicksand Bold"/>
                <a:ea typeface="Quicksand Bold"/>
                <a:cs typeface="Quicksand Bold"/>
                <a:sym typeface="Quicksand Bold"/>
              </a:rPr>
              <a:t> Efficiency: Allows you to accomplish more in less time, freeing up space for leisure, rest, or other interests.</a:t>
            </a:r>
          </a:p>
        </p:txBody>
      </p:sp>
      <p:sp>
        <p:nvSpPr>
          <p:cNvPr id="16" name="TextBox 16"/>
          <p:cNvSpPr txBox="1"/>
          <p:nvPr/>
        </p:nvSpPr>
        <p:spPr>
          <a:xfrm>
            <a:off x="6252485" y="6901007"/>
            <a:ext cx="4191547" cy="2389505"/>
          </a:xfrm>
          <a:prstGeom prst="rect">
            <a:avLst/>
          </a:prstGeom>
        </p:spPr>
        <p:txBody>
          <a:bodyPr lIns="0" tIns="0" rIns="0" bIns="0" rtlCol="0" anchor="t">
            <a:spAutoFit/>
          </a:bodyPr>
          <a:lstStyle/>
          <a:p>
            <a:pPr algn="ctr">
              <a:lnSpc>
                <a:spcPts val="3220"/>
              </a:lnSpc>
            </a:pPr>
            <a:r>
              <a:rPr lang="en-US" sz="2300" b="1">
                <a:solidFill>
                  <a:srgbClr val="1D3163"/>
                </a:solidFill>
                <a:latin typeface="Quicksand Bold"/>
                <a:ea typeface="Quicksand Bold"/>
                <a:cs typeface="Quicksand Bold"/>
                <a:sym typeface="Quicksand Bold"/>
              </a:rPr>
              <a:t>Productivity: Ensures you are consistently working on the most valuable tasks (the right things) rather than just being busy (doing things quickly).</a:t>
            </a:r>
          </a:p>
        </p:txBody>
      </p:sp>
      <p:sp>
        <p:nvSpPr>
          <p:cNvPr id="17" name="TextBox 17"/>
          <p:cNvSpPr txBox="1"/>
          <p:nvPr/>
        </p:nvSpPr>
        <p:spPr>
          <a:xfrm>
            <a:off x="12391087" y="4734387"/>
            <a:ext cx="4868213" cy="1989454"/>
          </a:xfrm>
          <a:prstGeom prst="rect">
            <a:avLst/>
          </a:prstGeom>
        </p:spPr>
        <p:txBody>
          <a:bodyPr lIns="0" tIns="0" rIns="0" bIns="0" rtlCol="0" anchor="t">
            <a:spAutoFit/>
          </a:bodyPr>
          <a:lstStyle/>
          <a:p>
            <a:pPr algn="ctr">
              <a:lnSpc>
                <a:spcPts val="3220"/>
              </a:lnSpc>
            </a:pPr>
            <a:r>
              <a:rPr lang="en-US" sz="2300" b="1">
                <a:solidFill>
                  <a:srgbClr val="1D3163"/>
                </a:solidFill>
                <a:latin typeface="Quicksand Bold"/>
                <a:ea typeface="Quicksand Bold"/>
                <a:cs typeface="Quicksand Bold"/>
                <a:sym typeface="Quicksand Bold"/>
              </a:rPr>
              <a:t>Clarity: Reduces the feeling of being overwhelmed by providing a structured plan for your day, minimizing forgetfulness and uncertainty.</a:t>
            </a:r>
          </a:p>
        </p:txBody>
      </p:sp>
      <p:sp>
        <p:nvSpPr>
          <p:cNvPr id="18" name="TextBox 18"/>
          <p:cNvSpPr txBox="1"/>
          <p:nvPr/>
        </p:nvSpPr>
        <p:spPr>
          <a:xfrm>
            <a:off x="12391087" y="6901007"/>
            <a:ext cx="4304325" cy="2389504"/>
          </a:xfrm>
          <a:prstGeom prst="rect">
            <a:avLst/>
          </a:prstGeom>
        </p:spPr>
        <p:txBody>
          <a:bodyPr lIns="0" tIns="0" rIns="0" bIns="0" rtlCol="0" anchor="t">
            <a:spAutoFit/>
          </a:bodyPr>
          <a:lstStyle/>
          <a:p>
            <a:pPr algn="ctr">
              <a:lnSpc>
                <a:spcPts val="3220"/>
              </a:lnSpc>
            </a:pPr>
            <a:r>
              <a:rPr lang="en-US" sz="2300" b="1">
                <a:solidFill>
                  <a:srgbClr val="1D3163"/>
                </a:solidFill>
                <a:latin typeface="Quicksand Bold"/>
                <a:ea typeface="Quicksand Bold"/>
                <a:cs typeface="Quicksand Bold"/>
                <a:sym typeface="Quicksand Bold"/>
              </a:rPr>
              <a:t>Focus: Helps you set boundaries, minimize distractions, and dedicate concentrated effort to high-priority items, improving the quality of your work.</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27632" y="717225"/>
            <a:ext cx="9624124" cy="661049"/>
          </a:xfrm>
          <a:prstGeom prst="rect">
            <a:avLst/>
          </a:prstGeom>
        </p:spPr>
        <p:txBody>
          <a:bodyPr lIns="0" tIns="0" rIns="0" bIns="0" rtlCol="0" anchor="t">
            <a:spAutoFit/>
          </a:bodyPr>
          <a:lstStyle/>
          <a:p>
            <a:pPr algn="l">
              <a:lnSpc>
                <a:spcPts val="4140"/>
              </a:lnSpc>
            </a:pPr>
            <a:r>
              <a:rPr lang="en-US" sz="4600" dirty="0">
                <a:solidFill>
                  <a:srgbClr val="1D3163"/>
                </a:solidFill>
                <a:latin typeface="Bungee"/>
                <a:ea typeface="Bungee"/>
                <a:cs typeface="Bungee"/>
                <a:sym typeface="Bungee"/>
              </a:rPr>
              <a:t>objectives OF OUR PROGRAM</a:t>
            </a:r>
          </a:p>
        </p:txBody>
      </p:sp>
      <p:sp>
        <p:nvSpPr>
          <p:cNvPr id="4" name="TextBox 4"/>
          <p:cNvSpPr txBox="1"/>
          <p:nvPr/>
        </p:nvSpPr>
        <p:spPr>
          <a:xfrm>
            <a:off x="2447256" y="2047156"/>
            <a:ext cx="8373566" cy="3209925"/>
          </a:xfrm>
          <a:prstGeom prst="rect">
            <a:avLst/>
          </a:prstGeom>
        </p:spPr>
        <p:txBody>
          <a:bodyPr lIns="0" tIns="0" rIns="0" bIns="0" rtlCol="0" anchor="t">
            <a:spAutoFit/>
          </a:bodyPr>
          <a:lstStyle/>
          <a:p>
            <a:pPr algn="just">
              <a:lnSpc>
                <a:spcPts val="3600"/>
              </a:lnSpc>
            </a:pPr>
            <a:r>
              <a:rPr lang="en-US" sz="3000" b="1" dirty="0">
                <a:solidFill>
                  <a:srgbClr val="1D3163"/>
                </a:solidFill>
                <a:latin typeface="Quicksand Bold"/>
                <a:ea typeface="Quicksand Bold"/>
                <a:cs typeface="Quicksand Bold"/>
                <a:sym typeface="Quicksand Bold"/>
              </a:rPr>
              <a:t> To develop a Python-based task management system that allows students to record tasks, mark them as completed, and calculate the total hours required to finish remaining work, thereby promoting better time management through a simple and intuitive interface</a:t>
            </a:r>
          </a:p>
        </p:txBody>
      </p:sp>
      <p:sp>
        <p:nvSpPr>
          <p:cNvPr id="6" name="TextBox 6"/>
          <p:cNvSpPr txBox="1"/>
          <p:nvPr/>
        </p:nvSpPr>
        <p:spPr>
          <a:xfrm>
            <a:off x="1342430" y="2287763"/>
            <a:ext cx="970307" cy="696344"/>
          </a:xfrm>
          <a:prstGeom prst="rect">
            <a:avLst/>
          </a:prstGeom>
        </p:spPr>
        <p:txBody>
          <a:bodyPr lIns="0" tIns="0" rIns="0" bIns="0" rtlCol="0" anchor="t">
            <a:spAutoFit/>
          </a:bodyPr>
          <a:lstStyle/>
          <a:p>
            <a:pPr>
              <a:lnSpc>
                <a:spcPts val="5040"/>
              </a:lnSpc>
            </a:pPr>
            <a:r>
              <a:rPr lang="en-US" sz="5600" dirty="0">
                <a:solidFill>
                  <a:srgbClr val="1D3163"/>
                </a:solidFill>
                <a:latin typeface="Bungee"/>
                <a:ea typeface="Bungee"/>
                <a:cs typeface="Bungee"/>
                <a:sym typeface="Bungee"/>
              </a:rPr>
              <a:t>1</a:t>
            </a:r>
            <a:r>
              <a:rPr lang="en-US" sz="5600" dirty="0" smtClean="0">
                <a:solidFill>
                  <a:srgbClr val="1D3163"/>
                </a:solidFill>
                <a:latin typeface="Bungee"/>
                <a:ea typeface="Bungee"/>
                <a:cs typeface="Bungee"/>
                <a:sym typeface="Bungee"/>
              </a:rPr>
              <a:t>.</a:t>
            </a:r>
            <a:endParaRPr lang="en-US" sz="5600" dirty="0">
              <a:solidFill>
                <a:srgbClr val="1D3163"/>
              </a:solidFill>
              <a:latin typeface="Bungee"/>
              <a:ea typeface="Bungee"/>
              <a:cs typeface="Bungee"/>
              <a:sym typeface="Bungee"/>
            </a:endParaRPr>
          </a:p>
        </p:txBody>
      </p:sp>
      <p:sp>
        <p:nvSpPr>
          <p:cNvPr id="7" name="Freeform 7"/>
          <p:cNvSpPr/>
          <p:nvPr/>
        </p:nvSpPr>
        <p:spPr>
          <a:xfrm>
            <a:off x="12430994" y="2635935"/>
            <a:ext cx="4828306" cy="6622365"/>
          </a:xfrm>
          <a:custGeom>
            <a:avLst/>
            <a:gdLst/>
            <a:ahLst/>
            <a:cxnLst/>
            <a:rect l="l" t="t" r="r" b="b"/>
            <a:pathLst>
              <a:path w="4828306" h="6622365">
                <a:moveTo>
                  <a:pt x="0" y="0"/>
                </a:moveTo>
                <a:lnTo>
                  <a:pt x="4828306" y="0"/>
                </a:lnTo>
                <a:lnTo>
                  <a:pt x="4828306" y="6622365"/>
                </a:lnTo>
                <a:lnTo>
                  <a:pt x="0" y="66223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8" name="Rectangle 7"/>
          <p:cNvSpPr/>
          <p:nvPr/>
        </p:nvSpPr>
        <p:spPr>
          <a:xfrm>
            <a:off x="2267883" y="5925963"/>
            <a:ext cx="9144000" cy="1938992"/>
          </a:xfrm>
          <a:prstGeom prst="rect">
            <a:avLst/>
          </a:prstGeom>
        </p:spPr>
        <p:txBody>
          <a:bodyPr>
            <a:spAutoFit/>
          </a:bodyPr>
          <a:lstStyle/>
          <a:p>
            <a:r>
              <a:rPr lang="en-US" sz="3000" dirty="0" smtClean="0">
                <a:solidFill>
                  <a:schemeClr val="accent1">
                    <a:lumMod val="50000"/>
                  </a:schemeClr>
                </a:solidFill>
                <a:latin typeface="Quicksand Bold" charset="0"/>
              </a:rPr>
              <a:t>To transition from a command-line interface to a professional Graphical User Interface (GUI) that supports multi-user security and advanced task filtering.</a:t>
            </a:r>
            <a:endParaRPr lang="en-US" sz="3000" dirty="0">
              <a:solidFill>
                <a:schemeClr val="accent1">
                  <a:lumMod val="50000"/>
                </a:schemeClr>
              </a:solidFill>
              <a:latin typeface="Quicksand Bold" charset="0"/>
            </a:endParaRPr>
          </a:p>
        </p:txBody>
      </p:sp>
      <p:sp>
        <p:nvSpPr>
          <p:cNvPr id="9" name="Rectangle 8"/>
          <p:cNvSpPr/>
          <p:nvPr/>
        </p:nvSpPr>
        <p:spPr>
          <a:xfrm>
            <a:off x="1248772" y="5947117"/>
            <a:ext cx="918841" cy="954107"/>
          </a:xfrm>
          <a:prstGeom prst="rect">
            <a:avLst/>
          </a:prstGeom>
        </p:spPr>
        <p:txBody>
          <a:bodyPr wrap="none">
            <a:spAutoFit/>
          </a:bodyPr>
          <a:lstStyle/>
          <a:p>
            <a:r>
              <a:rPr lang="en-US" sz="5600" dirty="0">
                <a:solidFill>
                  <a:srgbClr val="1D3163"/>
                </a:solidFill>
                <a:latin typeface="Bungee"/>
                <a:ea typeface="Bungee"/>
                <a:cs typeface="Bungee"/>
                <a:sym typeface="Bungee"/>
              </a:rPr>
              <a:t>2</a:t>
            </a:r>
            <a:r>
              <a:rPr lang="en-US" sz="5600" dirty="0" smtClean="0">
                <a:solidFill>
                  <a:srgbClr val="1D3163"/>
                </a:solidFill>
                <a:latin typeface="Bungee"/>
                <a:ea typeface="Bungee"/>
                <a:cs typeface="Bungee"/>
                <a:sym typeface="Bungee"/>
              </a:rPr>
              <a:t>.</a:t>
            </a:r>
            <a:endParaRPr lang="en-US" sz="5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428960" y="4429120"/>
            <a:ext cx="11565913" cy="1013739"/>
          </a:xfrm>
          <a:prstGeom prst="rect">
            <a:avLst/>
          </a:prstGeom>
        </p:spPr>
        <p:txBody>
          <a:bodyPr lIns="0" tIns="0" rIns="0" bIns="0" rtlCol="0" anchor="t">
            <a:spAutoFit/>
          </a:bodyPr>
          <a:lstStyle/>
          <a:p>
            <a:pPr algn="ctr">
              <a:lnSpc>
                <a:spcPts val="7290"/>
              </a:lnSpc>
            </a:pPr>
            <a:r>
              <a:rPr lang="en-US" sz="8100" dirty="0" smtClean="0">
                <a:solidFill>
                  <a:srgbClr val="1D3163"/>
                </a:solidFill>
                <a:latin typeface="Bungee"/>
                <a:ea typeface="Bungee"/>
                <a:cs typeface="Bungee"/>
                <a:sym typeface="Bungee"/>
              </a:rPr>
              <a:t>features</a:t>
            </a:r>
            <a:endParaRPr lang="en-US" sz="8100" dirty="0">
              <a:solidFill>
                <a:srgbClr val="1D3163"/>
              </a:solidFill>
              <a:latin typeface="Bungee"/>
              <a:ea typeface="Bungee"/>
              <a:cs typeface="Bungee"/>
              <a:sym typeface="Bungee"/>
            </a:endParaRPr>
          </a:p>
        </p:txBody>
      </p:sp>
      <p:sp>
        <p:nvSpPr>
          <p:cNvPr id="27" name="Freeform 24"/>
          <p:cNvSpPr/>
          <p:nvPr/>
        </p:nvSpPr>
        <p:spPr>
          <a:xfrm>
            <a:off x="2000200" y="3428988"/>
            <a:ext cx="1698810" cy="1698810"/>
          </a:xfrm>
          <a:custGeom>
            <a:avLst/>
            <a:gdLst/>
            <a:ahLst/>
            <a:cxnLst/>
            <a:rect l="l" t="t" r="r" b="b"/>
            <a:pathLst>
              <a:path w="1698810" h="1698810">
                <a:moveTo>
                  <a:pt x="0" y="0"/>
                </a:moveTo>
                <a:lnTo>
                  <a:pt x="1698810" y="0"/>
                </a:lnTo>
                <a:lnTo>
                  <a:pt x="1698810" y="1698810"/>
                </a:lnTo>
                <a:lnTo>
                  <a:pt x="0" y="1698810"/>
                </a:lnTo>
                <a:lnTo>
                  <a:pt x="0" y="0"/>
                </a:lnTo>
                <a:close/>
              </a:path>
            </a:pathLst>
          </a:custGeom>
          <a:blipFill>
            <a:blip r:embed="rId2">
              <a:extLst>
                <a:ext uri="{96DAC541-7B7A-43D3-8B79-37D633B846F1}">
                  <asvg:svgBlip xmlns:asvg="http://schemas.microsoft.com/office/drawing/2016/SVG/main" xmlns="" r:embed="rId9"/>
                </a:ext>
              </a:extLst>
            </a:blip>
            <a:stretch>
              <a:fillRect/>
            </a:stretch>
          </a:blipFill>
        </p:spPr>
      </p:sp>
      <p:sp>
        <p:nvSpPr>
          <p:cNvPr id="28" name="Freeform 6"/>
          <p:cNvSpPr/>
          <p:nvPr/>
        </p:nvSpPr>
        <p:spPr>
          <a:xfrm>
            <a:off x="12644462" y="5929318"/>
            <a:ext cx="1184920" cy="1698810"/>
          </a:xfrm>
          <a:custGeom>
            <a:avLst/>
            <a:gdLst/>
            <a:ahLst/>
            <a:cxnLst/>
            <a:rect l="l" t="t" r="r" b="b"/>
            <a:pathLst>
              <a:path w="1184920" h="1698810">
                <a:moveTo>
                  <a:pt x="0" y="0"/>
                </a:moveTo>
                <a:lnTo>
                  <a:pt x="1184920" y="0"/>
                </a:lnTo>
                <a:lnTo>
                  <a:pt x="1184920" y="1698810"/>
                </a:lnTo>
                <a:lnTo>
                  <a:pt x="0" y="1698810"/>
                </a:lnTo>
                <a:lnTo>
                  <a:pt x="0" y="0"/>
                </a:lnTo>
                <a:close/>
              </a:path>
            </a:pathLst>
          </a:custGeom>
          <a:blipFill>
            <a:blip r:embed="rId10">
              <a:extLst>
                <a:ext uri="{96DAC541-7B7A-43D3-8B79-37D633B846F1}">
                  <asvg:svgBlip xmlns:asvg="http://schemas.microsoft.com/office/drawing/2016/SVG/main" xmlns="" r:embed="rId3"/>
                </a:ext>
              </a:extLst>
            </a:blip>
            <a:stretch>
              <a:fillRect/>
            </a:stretch>
          </a:blipFill>
        </p:spPr>
      </p:sp>
      <p:sp>
        <p:nvSpPr>
          <p:cNvPr id="29" name="Freeform 12"/>
          <p:cNvSpPr/>
          <p:nvPr/>
        </p:nvSpPr>
        <p:spPr>
          <a:xfrm>
            <a:off x="11715768" y="1643038"/>
            <a:ext cx="1530301" cy="1274323"/>
          </a:xfrm>
          <a:custGeom>
            <a:avLst/>
            <a:gdLst/>
            <a:ahLst/>
            <a:cxnLst/>
            <a:rect l="l" t="t" r="r" b="b"/>
            <a:pathLst>
              <a:path w="1530301" h="1274323">
                <a:moveTo>
                  <a:pt x="0" y="0"/>
                </a:moveTo>
                <a:lnTo>
                  <a:pt x="1530301" y="0"/>
                </a:lnTo>
                <a:lnTo>
                  <a:pt x="1530301" y="1274324"/>
                </a:lnTo>
                <a:lnTo>
                  <a:pt x="0" y="1274324"/>
                </a:lnTo>
                <a:lnTo>
                  <a:pt x="0" y="0"/>
                </a:lnTo>
                <a:close/>
              </a:path>
            </a:pathLst>
          </a:custGeom>
          <a:blipFill>
            <a:blip r:embed="rId11">
              <a:extLst>
                <a:ext uri="{96DAC541-7B7A-43D3-8B79-37D633B846F1}">
                  <asvg:svgBlip xmlns:asvg="http://schemas.microsoft.com/office/drawing/2016/SVG/main" xmlns="" r:embed="rId5"/>
                </a:ext>
              </a:extLst>
            </a:blip>
            <a:stretch>
              <a:fillRect/>
            </a:stretch>
          </a:blipFill>
        </p:spPr>
      </p:sp>
      <p:sp>
        <p:nvSpPr>
          <p:cNvPr id="30" name="Freeform 18"/>
          <p:cNvSpPr/>
          <p:nvPr/>
        </p:nvSpPr>
        <p:spPr>
          <a:xfrm>
            <a:off x="2643142" y="7072326"/>
            <a:ext cx="1485760" cy="1485760"/>
          </a:xfrm>
          <a:custGeom>
            <a:avLst/>
            <a:gdLst/>
            <a:ahLst/>
            <a:cxnLst/>
            <a:rect l="l" t="t" r="r" b="b"/>
            <a:pathLst>
              <a:path w="1485760" h="1485760">
                <a:moveTo>
                  <a:pt x="0" y="0"/>
                </a:moveTo>
                <a:lnTo>
                  <a:pt x="1485760" y="0"/>
                </a:lnTo>
                <a:lnTo>
                  <a:pt x="1485760" y="1485760"/>
                </a:lnTo>
                <a:lnTo>
                  <a:pt x="0" y="1485760"/>
                </a:lnTo>
                <a:lnTo>
                  <a:pt x="0" y="0"/>
                </a:lnTo>
                <a:close/>
              </a:path>
            </a:pathLst>
          </a:custGeom>
          <a:blipFill>
            <a:blip r:embed="rId12">
              <a:extLst>
                <a:ext uri="{96DAC541-7B7A-43D3-8B79-37D633B846F1}">
                  <asvg:svgBlip xmlns:asvg="http://schemas.microsoft.com/office/drawing/2016/SVG/main" xmlns="" r:embed="rId7"/>
                </a:ext>
              </a:extLst>
            </a:blip>
            <a:stretch>
              <a:fillRect/>
            </a:stretch>
          </a:blipFill>
        </p:spPr>
      </p:sp>
      <p:sp>
        <p:nvSpPr>
          <p:cNvPr id="32" name="Freeform 6"/>
          <p:cNvSpPr/>
          <p:nvPr/>
        </p:nvSpPr>
        <p:spPr>
          <a:xfrm>
            <a:off x="6215042" y="857220"/>
            <a:ext cx="1178504" cy="1698810"/>
          </a:xfrm>
          <a:custGeom>
            <a:avLst/>
            <a:gdLst/>
            <a:ahLst/>
            <a:cxnLst/>
            <a:rect l="l" t="t" r="r" b="b"/>
            <a:pathLst>
              <a:path w="1184920" h="1698810">
                <a:moveTo>
                  <a:pt x="0" y="0"/>
                </a:moveTo>
                <a:lnTo>
                  <a:pt x="1184920" y="0"/>
                </a:lnTo>
                <a:lnTo>
                  <a:pt x="1184920" y="1698810"/>
                </a:lnTo>
                <a:lnTo>
                  <a:pt x="0" y="1698810"/>
                </a:lnTo>
                <a:lnTo>
                  <a:pt x="0" y="0"/>
                </a:lnTo>
                <a:close/>
              </a:path>
            </a:pathLst>
          </a:custGeom>
          <a:blipFill>
            <a:blip r:embed="rId10">
              <a:extLst>
                <a:ext uri="{96DAC541-7B7A-43D3-8B79-37D633B846F1}">
                  <asvg:svgBlip xmlns:asvg="http://schemas.microsoft.com/office/drawing/2016/SVG/main" xmlns="" r:embed="rId3"/>
                </a:ext>
              </a:extLst>
            </a:blip>
            <a:stretch>
              <a:fillRect/>
            </a:stretch>
          </a:blipFill>
        </p:spPr>
      </p:sp>
      <p:sp>
        <p:nvSpPr>
          <p:cNvPr id="33" name="Freeform 12"/>
          <p:cNvSpPr/>
          <p:nvPr/>
        </p:nvSpPr>
        <p:spPr>
          <a:xfrm>
            <a:off x="7358050" y="7572392"/>
            <a:ext cx="1522015" cy="1274323"/>
          </a:xfrm>
          <a:custGeom>
            <a:avLst/>
            <a:gdLst/>
            <a:ahLst/>
            <a:cxnLst/>
            <a:rect l="l" t="t" r="r" b="b"/>
            <a:pathLst>
              <a:path w="1530301" h="1274323">
                <a:moveTo>
                  <a:pt x="0" y="0"/>
                </a:moveTo>
                <a:lnTo>
                  <a:pt x="1530301" y="0"/>
                </a:lnTo>
                <a:lnTo>
                  <a:pt x="1530301" y="1274324"/>
                </a:lnTo>
                <a:lnTo>
                  <a:pt x="0" y="1274324"/>
                </a:lnTo>
                <a:lnTo>
                  <a:pt x="0" y="0"/>
                </a:lnTo>
                <a:close/>
              </a:path>
            </a:pathLst>
          </a:custGeom>
          <a:blipFill>
            <a:blip r:embed="rId11">
              <a:extLst>
                <a:ext uri="{96DAC541-7B7A-43D3-8B79-37D633B846F1}">
                  <asvg:svgBlip xmlns:asvg="http://schemas.microsoft.com/office/drawing/2016/SVG/main" xmlns="" r:embed="rId5"/>
                </a:ext>
              </a:extLst>
            </a:blip>
            <a:stretch>
              <a:fillRect/>
            </a:stretch>
          </a:blipFill>
        </p:spPr>
      </p:sp>
      <p:sp>
        <p:nvSpPr>
          <p:cNvPr id="34" name="Freeform 18"/>
          <p:cNvSpPr/>
          <p:nvPr/>
        </p:nvSpPr>
        <p:spPr>
          <a:xfrm>
            <a:off x="15001916" y="2786046"/>
            <a:ext cx="1477715" cy="1485760"/>
          </a:xfrm>
          <a:custGeom>
            <a:avLst/>
            <a:gdLst/>
            <a:ahLst/>
            <a:cxnLst/>
            <a:rect l="l" t="t" r="r" b="b"/>
            <a:pathLst>
              <a:path w="1485760" h="1485760">
                <a:moveTo>
                  <a:pt x="0" y="0"/>
                </a:moveTo>
                <a:lnTo>
                  <a:pt x="1485760" y="0"/>
                </a:lnTo>
                <a:lnTo>
                  <a:pt x="1485760" y="1485760"/>
                </a:lnTo>
                <a:lnTo>
                  <a:pt x="0" y="1485760"/>
                </a:lnTo>
                <a:lnTo>
                  <a:pt x="0" y="0"/>
                </a:lnTo>
                <a:close/>
              </a:path>
            </a:pathLst>
          </a:custGeom>
          <a:blipFill>
            <a:blip r:embed="rId12">
              <a:extLst>
                <a:ext uri="{96DAC541-7B7A-43D3-8B79-37D633B846F1}">
                  <asvg:svgBlip xmlns:asvg="http://schemas.microsoft.com/office/drawing/2016/SVG/main" xmlns="" r:embed="rId7"/>
                </a:ext>
              </a:extLst>
            </a:blip>
            <a:stretch>
              <a:fillRect/>
            </a:stretch>
          </a:blipFill>
        </p:spPr>
      </p:sp>
      <p:sp>
        <p:nvSpPr>
          <p:cNvPr id="36" name="Freeform 24"/>
          <p:cNvSpPr/>
          <p:nvPr/>
        </p:nvSpPr>
        <p:spPr>
          <a:xfrm>
            <a:off x="14859040" y="7929582"/>
            <a:ext cx="1689611" cy="1698810"/>
          </a:xfrm>
          <a:custGeom>
            <a:avLst/>
            <a:gdLst/>
            <a:ahLst/>
            <a:cxnLst/>
            <a:rect l="l" t="t" r="r" b="b"/>
            <a:pathLst>
              <a:path w="1698810" h="1698810">
                <a:moveTo>
                  <a:pt x="0" y="0"/>
                </a:moveTo>
                <a:lnTo>
                  <a:pt x="1698810" y="0"/>
                </a:lnTo>
                <a:lnTo>
                  <a:pt x="1698810" y="1698810"/>
                </a:lnTo>
                <a:lnTo>
                  <a:pt x="0" y="1698810"/>
                </a:lnTo>
                <a:lnTo>
                  <a:pt x="0" y="0"/>
                </a:lnTo>
                <a:close/>
              </a:path>
            </a:pathLst>
          </a:custGeom>
          <a:blipFill>
            <a:blip r:embed="rId2">
              <a:extLst>
                <a:ext uri="{96DAC541-7B7A-43D3-8B79-37D633B846F1}">
                  <asvg:svgBlip xmlns:asvg="http://schemas.microsoft.com/office/drawing/2016/SVG/main" xmlns="" r:embed="rId9"/>
                </a:ext>
              </a:extLst>
            </a:blip>
            <a:stretch>
              <a:fillRect/>
            </a:stretch>
          </a:blipFill>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p:cNvGrpSpPr/>
          <p:nvPr/>
        </p:nvGrpSpPr>
        <p:grpSpPr>
          <a:xfrm>
            <a:off x="5143472" y="5797351"/>
            <a:ext cx="11444012" cy="4533482"/>
            <a:chOff x="1471027" y="5868989"/>
            <a:chExt cx="11444012" cy="4533482"/>
          </a:xfrm>
        </p:grpSpPr>
        <p:grpSp>
          <p:nvGrpSpPr>
            <p:cNvPr id="2" name="Group 3"/>
            <p:cNvGrpSpPr/>
            <p:nvPr/>
          </p:nvGrpSpPr>
          <p:grpSpPr>
            <a:xfrm>
              <a:off x="1471027" y="6122145"/>
              <a:ext cx="3640145" cy="1383990"/>
              <a:chOff x="0" y="0"/>
              <a:chExt cx="958721" cy="364508"/>
            </a:xfrm>
          </p:grpSpPr>
          <p:sp>
            <p:nvSpPr>
              <p:cNvPr id="3" name="Freeform 4"/>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4" name="TextBox 5"/>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6" name="TextBox 7"/>
            <p:cNvSpPr txBox="1"/>
            <p:nvPr/>
          </p:nvSpPr>
          <p:spPr>
            <a:xfrm>
              <a:off x="1542465" y="6286708"/>
              <a:ext cx="3431967" cy="923330"/>
            </a:xfrm>
            <a:prstGeom prst="rect">
              <a:avLst/>
            </a:prstGeom>
          </p:spPr>
          <p:txBody>
            <a:bodyPr wrap="square" lIns="0" tIns="0" rIns="0" bIns="0" rtlCol="0" anchor="t">
              <a:spAutoFit/>
            </a:bodyPr>
            <a:lstStyle/>
            <a:p>
              <a:pPr>
                <a:lnSpc>
                  <a:spcPts val="3640"/>
                </a:lnSpc>
              </a:pPr>
              <a:r>
                <a:rPr lang="en-US" sz="2600" dirty="0" smtClean="0">
                  <a:solidFill>
                    <a:srgbClr val="1D3163"/>
                  </a:solidFill>
                  <a:latin typeface="Bungee"/>
                  <a:ea typeface="Bungee"/>
                  <a:cs typeface="Bungee"/>
                  <a:sym typeface="Bungee"/>
                </a:rPr>
                <a:t>Multi-User Security Portal</a:t>
              </a:r>
              <a:endParaRPr lang="en-US" sz="2600" dirty="0">
                <a:solidFill>
                  <a:srgbClr val="1D3163"/>
                </a:solidFill>
                <a:latin typeface="Bungee"/>
                <a:ea typeface="Bungee"/>
                <a:cs typeface="Bungee"/>
                <a:sym typeface="Bungee"/>
              </a:endParaRPr>
            </a:p>
          </p:txBody>
        </p:sp>
        <p:sp>
          <p:nvSpPr>
            <p:cNvPr id="7" name="TextBox 8"/>
            <p:cNvSpPr txBox="1"/>
            <p:nvPr/>
          </p:nvSpPr>
          <p:spPr>
            <a:xfrm>
              <a:off x="1565260" y="7795895"/>
              <a:ext cx="3451679" cy="2308324"/>
            </a:xfrm>
            <a:prstGeom prst="rect">
              <a:avLst/>
            </a:prstGeom>
          </p:spPr>
          <p:txBody>
            <a:bodyPr lIns="0" tIns="0" rIns="0" bIns="0" rtlCol="0" anchor="t">
              <a:spAutoFit/>
            </a:bodyPr>
            <a:lstStyle/>
            <a:p>
              <a:pPr>
                <a:lnSpc>
                  <a:spcPts val="3640"/>
                </a:lnSpc>
              </a:pPr>
              <a:r>
                <a:rPr lang="en-US" sz="2400" b="1" dirty="0" smtClean="0">
                  <a:solidFill>
                    <a:srgbClr val="1D3163"/>
                  </a:solidFill>
                  <a:latin typeface="Quicksand Bold"/>
                  <a:ea typeface="Quicksand Bold"/>
                  <a:cs typeface="Quicksand Bold"/>
                  <a:sym typeface="Quicksand Bold"/>
                </a:rPr>
                <a:t>Login system that gives privacy by allowing different users to manage their own task databases.</a:t>
              </a:r>
              <a:endParaRPr lang="en-US" sz="2400" b="1" dirty="0">
                <a:solidFill>
                  <a:srgbClr val="1D3163"/>
                </a:solidFill>
                <a:latin typeface="Quicksand Bold"/>
                <a:ea typeface="Quicksand Bold"/>
                <a:cs typeface="Quicksand Bold"/>
                <a:sym typeface="Quicksand Bold"/>
              </a:endParaRPr>
            </a:p>
          </p:txBody>
        </p:sp>
        <p:grpSp>
          <p:nvGrpSpPr>
            <p:cNvPr id="8" name="Group 9"/>
            <p:cNvGrpSpPr/>
            <p:nvPr/>
          </p:nvGrpSpPr>
          <p:grpSpPr>
            <a:xfrm>
              <a:off x="5372961" y="5929518"/>
              <a:ext cx="3667300" cy="1637146"/>
              <a:chOff x="0" y="-50733"/>
              <a:chExt cx="965873" cy="431183"/>
            </a:xfrm>
          </p:grpSpPr>
          <p:sp>
            <p:nvSpPr>
              <p:cNvPr id="9" name="Freeform 10"/>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10" name="TextBox 11"/>
              <p:cNvSpPr txBox="1"/>
              <p:nvPr/>
            </p:nvSpPr>
            <p:spPr>
              <a:xfrm>
                <a:off x="7152" y="-50733"/>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12" name="TextBox 13"/>
            <p:cNvSpPr txBox="1"/>
            <p:nvPr/>
          </p:nvSpPr>
          <p:spPr>
            <a:xfrm>
              <a:off x="5657441" y="6304870"/>
              <a:ext cx="3074529" cy="897682"/>
            </a:xfrm>
            <a:prstGeom prst="rect">
              <a:avLst/>
            </a:prstGeom>
          </p:spPr>
          <p:txBody>
            <a:bodyPr lIns="0" tIns="0" rIns="0" bIns="0" rtlCol="0" anchor="t">
              <a:spAutoFit/>
            </a:bodyPr>
            <a:lstStyle/>
            <a:p>
              <a:pPr>
                <a:lnSpc>
                  <a:spcPts val="3500"/>
                </a:lnSpc>
              </a:pPr>
              <a:r>
                <a:rPr lang="en-US" sz="2500" dirty="0" smtClean="0">
                  <a:solidFill>
                    <a:srgbClr val="1D3163"/>
                  </a:solidFill>
                  <a:latin typeface="Bungee"/>
                  <a:ea typeface="Bungee"/>
                  <a:cs typeface="Bungee"/>
                  <a:sym typeface="Bungee"/>
                </a:rPr>
                <a:t>Live Predictive Search</a:t>
              </a:r>
              <a:endParaRPr lang="en-US" sz="2500" dirty="0">
                <a:solidFill>
                  <a:srgbClr val="1D3163"/>
                </a:solidFill>
                <a:latin typeface="Bungee"/>
                <a:ea typeface="Bungee"/>
                <a:cs typeface="Bungee"/>
                <a:sym typeface="Bungee"/>
              </a:endParaRPr>
            </a:p>
          </p:txBody>
        </p:sp>
        <p:sp>
          <p:nvSpPr>
            <p:cNvPr id="13" name="TextBox 14"/>
            <p:cNvSpPr txBox="1"/>
            <p:nvPr/>
          </p:nvSpPr>
          <p:spPr>
            <a:xfrm>
              <a:off x="5471555" y="7742537"/>
              <a:ext cx="3451679" cy="2616101"/>
            </a:xfrm>
            <a:prstGeom prst="rect">
              <a:avLst/>
            </a:prstGeom>
          </p:spPr>
          <p:txBody>
            <a:bodyPr lIns="0" tIns="0" rIns="0" bIns="0" rtlCol="0" anchor="t">
              <a:spAutoFit/>
            </a:bodyPr>
            <a:lstStyle/>
            <a:p>
              <a:pPr>
                <a:lnSpc>
                  <a:spcPts val="3360"/>
                </a:lnSpc>
              </a:pPr>
              <a:r>
                <a:rPr lang="en-US" sz="2400" b="1" dirty="0" smtClean="0">
                  <a:solidFill>
                    <a:srgbClr val="1D3163"/>
                  </a:solidFill>
                  <a:latin typeface="Quicksand Bold"/>
                  <a:ea typeface="Quicksand Bold"/>
                  <a:cs typeface="Quicksand Bold"/>
                  <a:sym typeface="Quicksand Bold"/>
                </a:rPr>
                <a:t>Real-time search "object" that filters the task list instantly as the user types, solving the problem of memory reliance.</a:t>
              </a:r>
              <a:endParaRPr lang="en-US" sz="2400" b="1" dirty="0">
                <a:solidFill>
                  <a:srgbClr val="1D3163"/>
                </a:solidFill>
                <a:latin typeface="Quicksand Bold"/>
                <a:ea typeface="Quicksand Bold"/>
                <a:cs typeface="Quicksand Bold"/>
                <a:sym typeface="Quicksand Bold"/>
              </a:endParaRPr>
            </a:p>
          </p:txBody>
        </p:sp>
        <p:grpSp>
          <p:nvGrpSpPr>
            <p:cNvPr id="14" name="Group 15"/>
            <p:cNvGrpSpPr/>
            <p:nvPr/>
          </p:nvGrpSpPr>
          <p:grpSpPr>
            <a:xfrm>
              <a:off x="9274894" y="5868989"/>
              <a:ext cx="3640145" cy="1637146"/>
              <a:chOff x="0" y="-66675"/>
              <a:chExt cx="958721" cy="431183"/>
            </a:xfrm>
          </p:grpSpPr>
          <p:sp>
            <p:nvSpPr>
              <p:cNvPr id="15" name="Freeform 16"/>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16" name="TextBox 17"/>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18" name="TextBox 19"/>
            <p:cNvSpPr txBox="1"/>
            <p:nvPr/>
          </p:nvSpPr>
          <p:spPr>
            <a:xfrm>
              <a:off x="9557702" y="6304870"/>
              <a:ext cx="3074529" cy="923330"/>
            </a:xfrm>
            <a:prstGeom prst="rect">
              <a:avLst/>
            </a:prstGeom>
          </p:spPr>
          <p:txBody>
            <a:bodyPr lIns="0" tIns="0" rIns="0" bIns="0" rtlCol="0" anchor="t">
              <a:spAutoFit/>
            </a:bodyPr>
            <a:lstStyle/>
            <a:p>
              <a:pPr>
                <a:lnSpc>
                  <a:spcPts val="3640"/>
                </a:lnSpc>
              </a:pPr>
              <a:r>
                <a:rPr lang="en-US" sz="2600" dirty="0" smtClean="0">
                  <a:solidFill>
                    <a:srgbClr val="1D3163"/>
                  </a:solidFill>
                  <a:latin typeface="Bungee"/>
                  <a:ea typeface="Bungee"/>
                  <a:cs typeface="Bungee"/>
                  <a:sym typeface="Bungee"/>
                </a:rPr>
                <a:t>Bulk Management</a:t>
              </a:r>
              <a:endParaRPr lang="en-US" sz="2600" dirty="0">
                <a:solidFill>
                  <a:srgbClr val="1D3163"/>
                </a:solidFill>
                <a:latin typeface="Bungee"/>
                <a:ea typeface="Bungee"/>
                <a:cs typeface="Bungee"/>
                <a:sym typeface="Bungee"/>
              </a:endParaRPr>
            </a:p>
          </p:txBody>
        </p:sp>
        <p:sp>
          <p:nvSpPr>
            <p:cNvPr id="19" name="TextBox 20"/>
            <p:cNvSpPr txBox="1"/>
            <p:nvPr/>
          </p:nvSpPr>
          <p:spPr>
            <a:xfrm>
              <a:off x="9369127" y="7786370"/>
              <a:ext cx="3451679" cy="2616101"/>
            </a:xfrm>
            <a:prstGeom prst="rect">
              <a:avLst/>
            </a:prstGeom>
          </p:spPr>
          <p:txBody>
            <a:bodyPr lIns="0" tIns="0" rIns="0" bIns="0" rtlCol="0" anchor="t">
              <a:spAutoFit/>
            </a:bodyPr>
            <a:lstStyle/>
            <a:p>
              <a:pPr>
                <a:lnSpc>
                  <a:spcPts val="3360"/>
                </a:lnSpc>
              </a:pPr>
              <a:r>
                <a:rPr lang="en-US" sz="2400" b="1" dirty="0" smtClean="0">
                  <a:solidFill>
                    <a:srgbClr val="1D3163"/>
                  </a:solidFill>
                  <a:latin typeface="Quicksand Bold"/>
                  <a:ea typeface="Quicksand Bold"/>
                  <a:cs typeface="Quicksand Bold"/>
                  <a:sym typeface="Quicksand Bold"/>
                </a:rPr>
                <a:t>Upgraded from marking tasks one-by-one to Multi-Select, allowing users to finish or delete groups of tasks together</a:t>
              </a:r>
              <a:endParaRPr lang="en-US" sz="2400" b="1" dirty="0">
                <a:solidFill>
                  <a:srgbClr val="1D3163"/>
                </a:solidFill>
                <a:latin typeface="Quicksand Bold"/>
                <a:ea typeface="Quicksand Bold"/>
                <a:cs typeface="Quicksand Bold"/>
                <a:sym typeface="Quicksand Bold"/>
              </a:endParaRPr>
            </a:p>
          </p:txBody>
        </p:sp>
      </p:grpSp>
      <p:grpSp>
        <p:nvGrpSpPr>
          <p:cNvPr id="65" name="Group 64"/>
          <p:cNvGrpSpPr/>
          <p:nvPr/>
        </p:nvGrpSpPr>
        <p:grpSpPr>
          <a:xfrm>
            <a:off x="2357390" y="4214806"/>
            <a:ext cx="13147665" cy="1698810"/>
            <a:chOff x="3084937" y="10287000"/>
            <a:chExt cx="13147665" cy="1698810"/>
          </a:xfrm>
        </p:grpSpPr>
        <p:sp>
          <p:nvSpPr>
            <p:cNvPr id="23" name="Freeform 24"/>
            <p:cNvSpPr/>
            <p:nvPr/>
          </p:nvSpPr>
          <p:spPr>
            <a:xfrm>
              <a:off x="14533792" y="10287000"/>
              <a:ext cx="1698810" cy="1698810"/>
            </a:xfrm>
            <a:custGeom>
              <a:avLst/>
              <a:gdLst/>
              <a:ahLst/>
              <a:cxnLst/>
              <a:rect l="l" t="t" r="r" b="b"/>
              <a:pathLst>
                <a:path w="1698810" h="1698810">
                  <a:moveTo>
                    <a:pt x="0" y="0"/>
                  </a:moveTo>
                  <a:lnTo>
                    <a:pt x="1698810" y="0"/>
                  </a:lnTo>
                  <a:lnTo>
                    <a:pt x="1698810" y="1698810"/>
                  </a:lnTo>
                  <a:lnTo>
                    <a:pt x="0" y="1698810"/>
                  </a:lnTo>
                  <a:lnTo>
                    <a:pt x="0" y="0"/>
                  </a:lnTo>
                  <a:close/>
                </a:path>
              </a:pathLst>
            </a:custGeom>
            <a:blipFill>
              <a:blip r:embed="rId2">
                <a:extLst>
                  <a:ext uri="{96DAC541-7B7A-43D3-8B79-37D633B846F1}">
                    <asvg:svgBlip xmlns:asvg="http://schemas.microsoft.com/office/drawing/2016/SVG/main" xmlns="" r:embed="rId9"/>
                  </a:ext>
                </a:extLst>
              </a:blip>
              <a:stretch>
                <a:fillRect/>
              </a:stretch>
            </a:blipFill>
          </p:spPr>
        </p:sp>
        <p:sp>
          <p:nvSpPr>
            <p:cNvPr id="49" name="Freeform 6"/>
            <p:cNvSpPr/>
            <p:nvPr/>
          </p:nvSpPr>
          <p:spPr>
            <a:xfrm>
              <a:off x="3084937" y="10287000"/>
              <a:ext cx="1184920" cy="1698810"/>
            </a:xfrm>
            <a:custGeom>
              <a:avLst/>
              <a:gdLst/>
              <a:ahLst/>
              <a:cxnLst/>
              <a:rect l="l" t="t" r="r" b="b"/>
              <a:pathLst>
                <a:path w="1184920" h="1698810">
                  <a:moveTo>
                    <a:pt x="0" y="0"/>
                  </a:moveTo>
                  <a:lnTo>
                    <a:pt x="1184920" y="0"/>
                  </a:lnTo>
                  <a:lnTo>
                    <a:pt x="1184920" y="1698810"/>
                  </a:lnTo>
                  <a:lnTo>
                    <a:pt x="0" y="1698810"/>
                  </a:lnTo>
                  <a:lnTo>
                    <a:pt x="0" y="0"/>
                  </a:lnTo>
                  <a:close/>
                </a:path>
              </a:pathLst>
            </a:custGeom>
            <a:blipFill>
              <a:blip r:embed="rId10">
                <a:extLst>
                  <a:ext uri="{96DAC541-7B7A-43D3-8B79-37D633B846F1}">
                    <asvg:svgBlip xmlns:asvg="http://schemas.microsoft.com/office/drawing/2016/SVG/main" xmlns="" r:embed="rId3"/>
                  </a:ext>
                </a:extLst>
              </a:blip>
              <a:stretch>
                <a:fillRect/>
              </a:stretch>
            </a:blipFill>
          </p:spPr>
        </p:sp>
        <p:sp>
          <p:nvSpPr>
            <p:cNvPr id="55" name="Freeform 12"/>
            <p:cNvSpPr/>
            <p:nvPr/>
          </p:nvSpPr>
          <p:spPr>
            <a:xfrm>
              <a:off x="6814180" y="10499243"/>
              <a:ext cx="1530301" cy="1274323"/>
            </a:xfrm>
            <a:custGeom>
              <a:avLst/>
              <a:gdLst/>
              <a:ahLst/>
              <a:cxnLst/>
              <a:rect l="l" t="t" r="r" b="b"/>
              <a:pathLst>
                <a:path w="1530301" h="1274323">
                  <a:moveTo>
                    <a:pt x="0" y="0"/>
                  </a:moveTo>
                  <a:lnTo>
                    <a:pt x="1530301" y="0"/>
                  </a:lnTo>
                  <a:lnTo>
                    <a:pt x="1530301" y="1274324"/>
                  </a:lnTo>
                  <a:lnTo>
                    <a:pt x="0" y="1274324"/>
                  </a:lnTo>
                  <a:lnTo>
                    <a:pt x="0" y="0"/>
                  </a:lnTo>
                  <a:close/>
                </a:path>
              </a:pathLst>
            </a:custGeom>
            <a:blipFill>
              <a:blip r:embed="rId11">
                <a:extLst>
                  <a:ext uri="{96DAC541-7B7A-43D3-8B79-37D633B846F1}">
                    <asvg:svgBlip xmlns:asvg="http://schemas.microsoft.com/office/drawing/2016/SVG/main" xmlns="" r:embed="rId5"/>
                  </a:ext>
                </a:extLst>
              </a:blip>
              <a:stretch>
                <a:fillRect/>
              </a:stretch>
            </a:blipFill>
          </p:spPr>
        </p:sp>
        <p:sp>
          <p:nvSpPr>
            <p:cNvPr id="61" name="Freeform 18"/>
            <p:cNvSpPr/>
            <p:nvPr/>
          </p:nvSpPr>
          <p:spPr>
            <a:xfrm>
              <a:off x="10738384" y="10393525"/>
              <a:ext cx="1485760" cy="1485760"/>
            </a:xfrm>
            <a:custGeom>
              <a:avLst/>
              <a:gdLst/>
              <a:ahLst/>
              <a:cxnLst/>
              <a:rect l="l" t="t" r="r" b="b"/>
              <a:pathLst>
                <a:path w="1485760" h="1485760">
                  <a:moveTo>
                    <a:pt x="0" y="0"/>
                  </a:moveTo>
                  <a:lnTo>
                    <a:pt x="1485760" y="0"/>
                  </a:lnTo>
                  <a:lnTo>
                    <a:pt x="1485760" y="1485760"/>
                  </a:lnTo>
                  <a:lnTo>
                    <a:pt x="0" y="1485760"/>
                  </a:lnTo>
                  <a:lnTo>
                    <a:pt x="0" y="0"/>
                  </a:lnTo>
                  <a:close/>
                </a:path>
              </a:pathLst>
            </a:custGeom>
            <a:blipFill>
              <a:blip r:embed="rId12">
                <a:extLst>
                  <a:ext uri="{96DAC541-7B7A-43D3-8B79-37D633B846F1}">
                    <asvg:svgBlip xmlns:asvg="http://schemas.microsoft.com/office/drawing/2016/SVG/main" xmlns="" r:embed="rId7"/>
                  </a:ext>
                </a:extLst>
              </a:blip>
              <a:stretch>
                <a:fillRect/>
              </a:stretch>
            </a:blipFill>
          </p:spPr>
        </p:sp>
      </p:grpSp>
      <p:grpSp>
        <p:nvGrpSpPr>
          <p:cNvPr id="66" name="Group 65"/>
          <p:cNvGrpSpPr/>
          <p:nvPr/>
        </p:nvGrpSpPr>
        <p:grpSpPr>
          <a:xfrm>
            <a:off x="1214382" y="344909"/>
            <a:ext cx="15345945" cy="3941335"/>
            <a:chOff x="1857324" y="12479928"/>
            <a:chExt cx="15345945" cy="3941335"/>
          </a:xfrm>
        </p:grpSpPr>
        <p:grpSp>
          <p:nvGrpSpPr>
            <p:cNvPr id="20" name="Group 21"/>
            <p:cNvGrpSpPr/>
            <p:nvPr/>
          </p:nvGrpSpPr>
          <p:grpSpPr>
            <a:xfrm>
              <a:off x="13563124" y="12479928"/>
              <a:ext cx="3640145" cy="1383990"/>
              <a:chOff x="0" y="0"/>
              <a:chExt cx="958721" cy="364508"/>
            </a:xfrm>
          </p:grpSpPr>
          <p:sp>
            <p:nvSpPr>
              <p:cNvPr id="21" name="Freeform 22"/>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22" name="TextBox 23"/>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24" name="TextBox 25"/>
            <p:cNvSpPr txBox="1"/>
            <p:nvPr/>
          </p:nvSpPr>
          <p:spPr>
            <a:xfrm>
              <a:off x="13820959" y="12749013"/>
              <a:ext cx="3124475" cy="785495"/>
            </a:xfrm>
            <a:prstGeom prst="rect">
              <a:avLst/>
            </a:prstGeom>
          </p:spPr>
          <p:txBody>
            <a:bodyPr lIns="0" tIns="0" rIns="0" bIns="0" rtlCol="0" anchor="t">
              <a:spAutoFit/>
            </a:bodyPr>
            <a:lstStyle/>
            <a:p>
              <a:pPr algn="l">
                <a:lnSpc>
                  <a:spcPts val="2860"/>
                </a:lnSpc>
              </a:pPr>
              <a:r>
                <a:rPr lang="en-US" sz="2600">
                  <a:solidFill>
                    <a:srgbClr val="1D3163"/>
                  </a:solidFill>
                  <a:latin typeface="Bungee"/>
                  <a:ea typeface="Bungee"/>
                  <a:cs typeface="Bungee"/>
                  <a:sym typeface="Bungee"/>
                </a:rPr>
                <a:t> Consolidated Task View</a:t>
              </a:r>
            </a:p>
          </p:txBody>
        </p:sp>
        <p:sp>
          <p:nvSpPr>
            <p:cNvPr id="25" name="TextBox 26"/>
            <p:cNvSpPr txBox="1"/>
            <p:nvPr/>
          </p:nvSpPr>
          <p:spPr>
            <a:xfrm>
              <a:off x="13657357" y="14144153"/>
              <a:ext cx="3451679" cy="2091689"/>
            </a:xfrm>
            <a:prstGeom prst="rect">
              <a:avLst/>
            </a:prstGeom>
          </p:spPr>
          <p:txBody>
            <a:bodyPr lIns="0" tIns="0" rIns="0" bIns="0" rtlCol="0" anchor="t">
              <a:spAutoFit/>
            </a:bodyPr>
            <a:lstStyle/>
            <a:p>
              <a:pPr algn="l">
                <a:lnSpc>
                  <a:spcPts val="3360"/>
                </a:lnSpc>
              </a:pPr>
              <a:r>
                <a:rPr lang="en-US" sz="2400" b="1">
                  <a:solidFill>
                    <a:srgbClr val="1D3163"/>
                  </a:solidFill>
                  <a:latin typeface="Quicksand Bold"/>
                  <a:ea typeface="Quicksand Bold"/>
                  <a:cs typeface="Quicksand Bold"/>
                  <a:sym typeface="Quicksand Bold"/>
                </a:rPr>
                <a:t>Displays all current tasks in one organized list, showing status, priority, and time required.</a:t>
              </a:r>
            </a:p>
          </p:txBody>
        </p:sp>
        <p:grpSp>
          <p:nvGrpSpPr>
            <p:cNvPr id="46" name="Group 3"/>
            <p:cNvGrpSpPr/>
            <p:nvPr/>
          </p:nvGrpSpPr>
          <p:grpSpPr>
            <a:xfrm>
              <a:off x="1857324" y="12479928"/>
              <a:ext cx="3640145" cy="1383990"/>
              <a:chOff x="0" y="0"/>
              <a:chExt cx="958721" cy="364508"/>
            </a:xfrm>
          </p:grpSpPr>
          <p:sp>
            <p:nvSpPr>
              <p:cNvPr id="47" name="Freeform 4"/>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48" name="TextBox 5"/>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50" name="TextBox 7"/>
            <p:cNvSpPr txBox="1"/>
            <p:nvPr/>
          </p:nvSpPr>
          <p:spPr>
            <a:xfrm>
              <a:off x="2140133" y="12627093"/>
              <a:ext cx="3074529" cy="953135"/>
            </a:xfrm>
            <a:prstGeom prst="rect">
              <a:avLst/>
            </a:prstGeom>
          </p:spPr>
          <p:txBody>
            <a:bodyPr lIns="0" tIns="0" rIns="0" bIns="0" rtlCol="0" anchor="t">
              <a:spAutoFit/>
            </a:bodyPr>
            <a:lstStyle/>
            <a:p>
              <a:pPr algn="l">
                <a:lnSpc>
                  <a:spcPts val="3640"/>
                </a:lnSpc>
              </a:pPr>
              <a:r>
                <a:rPr lang="en-US" sz="2600">
                  <a:solidFill>
                    <a:srgbClr val="1D3163"/>
                  </a:solidFill>
                  <a:latin typeface="Bungee"/>
                  <a:ea typeface="Bungee"/>
                  <a:cs typeface="Bungee"/>
                  <a:sym typeface="Bungee"/>
                </a:rPr>
                <a:t>Data-Driven Scheduling </a:t>
              </a:r>
            </a:p>
          </p:txBody>
        </p:sp>
        <p:sp>
          <p:nvSpPr>
            <p:cNvPr id="51" name="TextBox 8"/>
            <p:cNvSpPr txBox="1"/>
            <p:nvPr/>
          </p:nvSpPr>
          <p:spPr>
            <a:xfrm>
              <a:off x="1951557" y="14153678"/>
              <a:ext cx="3451679" cy="2267585"/>
            </a:xfrm>
            <a:prstGeom prst="rect">
              <a:avLst/>
            </a:prstGeom>
          </p:spPr>
          <p:txBody>
            <a:bodyPr lIns="0" tIns="0" rIns="0" bIns="0" rtlCol="0" anchor="t">
              <a:spAutoFit/>
            </a:bodyPr>
            <a:lstStyle/>
            <a:p>
              <a:pPr algn="l">
                <a:lnSpc>
                  <a:spcPts val="3640"/>
                </a:lnSpc>
              </a:pPr>
              <a:r>
                <a:rPr lang="en-US" sz="2600" b="1" dirty="0">
                  <a:solidFill>
                    <a:srgbClr val="1D3163"/>
                  </a:solidFill>
                  <a:latin typeface="Quicksand Bold"/>
                  <a:ea typeface="Quicksand Bold"/>
                  <a:cs typeface="Quicksand Bold"/>
                  <a:sym typeface="Quicksand Bold"/>
                </a:rPr>
                <a:t>Allows students to input estimated hours and priority to inform planning decisions.</a:t>
              </a:r>
            </a:p>
          </p:txBody>
        </p:sp>
        <p:grpSp>
          <p:nvGrpSpPr>
            <p:cNvPr id="52" name="Group 9"/>
            <p:cNvGrpSpPr/>
            <p:nvPr/>
          </p:nvGrpSpPr>
          <p:grpSpPr>
            <a:xfrm>
              <a:off x="5759258" y="12479928"/>
              <a:ext cx="3640145" cy="1383990"/>
              <a:chOff x="0" y="0"/>
              <a:chExt cx="958721" cy="364508"/>
            </a:xfrm>
          </p:grpSpPr>
          <p:sp>
            <p:nvSpPr>
              <p:cNvPr id="53" name="Freeform 10"/>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54" name="TextBox 11"/>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56" name="TextBox 13"/>
            <p:cNvSpPr txBox="1"/>
            <p:nvPr/>
          </p:nvSpPr>
          <p:spPr>
            <a:xfrm>
              <a:off x="6043738" y="12662653"/>
              <a:ext cx="3074529" cy="917575"/>
            </a:xfrm>
            <a:prstGeom prst="rect">
              <a:avLst/>
            </a:prstGeom>
          </p:spPr>
          <p:txBody>
            <a:bodyPr lIns="0" tIns="0" rIns="0" bIns="0" rtlCol="0" anchor="t">
              <a:spAutoFit/>
            </a:bodyPr>
            <a:lstStyle/>
            <a:p>
              <a:pPr algn="l">
                <a:lnSpc>
                  <a:spcPts val="3500"/>
                </a:lnSpc>
              </a:pPr>
              <a:r>
                <a:rPr lang="en-US" sz="2500">
                  <a:solidFill>
                    <a:srgbClr val="1D3163"/>
                  </a:solidFill>
                  <a:latin typeface="Bungee"/>
                  <a:ea typeface="Bungee"/>
                  <a:cs typeface="Bungee"/>
                  <a:sym typeface="Bungee"/>
                </a:rPr>
                <a:t>Instant Workload Tally</a:t>
              </a:r>
            </a:p>
          </p:txBody>
        </p:sp>
        <p:sp>
          <p:nvSpPr>
            <p:cNvPr id="57" name="TextBox 14"/>
            <p:cNvSpPr txBox="1"/>
            <p:nvPr/>
          </p:nvSpPr>
          <p:spPr>
            <a:xfrm>
              <a:off x="5853491" y="14144153"/>
              <a:ext cx="3451679" cy="2091689"/>
            </a:xfrm>
            <a:prstGeom prst="rect">
              <a:avLst/>
            </a:prstGeom>
          </p:spPr>
          <p:txBody>
            <a:bodyPr lIns="0" tIns="0" rIns="0" bIns="0" rtlCol="0" anchor="t">
              <a:spAutoFit/>
            </a:bodyPr>
            <a:lstStyle/>
            <a:p>
              <a:pPr algn="l">
                <a:lnSpc>
                  <a:spcPts val="3360"/>
                </a:lnSpc>
              </a:pPr>
              <a:r>
                <a:rPr lang="en-US" sz="2400" b="1" dirty="0">
                  <a:solidFill>
                    <a:srgbClr val="1D3163"/>
                  </a:solidFill>
                  <a:latin typeface="Quicksand Bold"/>
                  <a:ea typeface="Quicksand Bold"/>
                  <a:cs typeface="Quicksand Bold"/>
                  <a:sym typeface="Quicksand Bold"/>
                </a:rPr>
                <a:t>Automatically calculates and displays the total remaining hours for all pending assignments.</a:t>
              </a:r>
            </a:p>
          </p:txBody>
        </p:sp>
        <p:grpSp>
          <p:nvGrpSpPr>
            <p:cNvPr id="58" name="Group 15"/>
            <p:cNvGrpSpPr/>
            <p:nvPr/>
          </p:nvGrpSpPr>
          <p:grpSpPr>
            <a:xfrm>
              <a:off x="9661191" y="12479928"/>
              <a:ext cx="3640145" cy="1383990"/>
              <a:chOff x="0" y="0"/>
              <a:chExt cx="958721" cy="364508"/>
            </a:xfrm>
          </p:grpSpPr>
          <p:sp>
            <p:nvSpPr>
              <p:cNvPr id="59" name="Freeform 16"/>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60" name="TextBox 17"/>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62" name="TextBox 19"/>
            <p:cNvSpPr txBox="1"/>
            <p:nvPr/>
          </p:nvSpPr>
          <p:spPr>
            <a:xfrm>
              <a:off x="9943999" y="12662653"/>
              <a:ext cx="3074529" cy="953135"/>
            </a:xfrm>
            <a:prstGeom prst="rect">
              <a:avLst/>
            </a:prstGeom>
          </p:spPr>
          <p:txBody>
            <a:bodyPr lIns="0" tIns="0" rIns="0" bIns="0" rtlCol="0" anchor="t">
              <a:spAutoFit/>
            </a:bodyPr>
            <a:lstStyle/>
            <a:p>
              <a:pPr algn="l">
                <a:lnSpc>
                  <a:spcPts val="3640"/>
                </a:lnSpc>
              </a:pPr>
              <a:r>
                <a:rPr lang="en-US" sz="2600">
                  <a:solidFill>
                    <a:srgbClr val="1D3163"/>
                  </a:solidFill>
                  <a:latin typeface="Bungee"/>
                  <a:ea typeface="Bungee"/>
                  <a:cs typeface="Bungee"/>
                  <a:sym typeface="Bungee"/>
                </a:rPr>
                <a:t>Dynamic Status Update</a:t>
              </a:r>
            </a:p>
          </p:txBody>
        </p:sp>
        <p:sp>
          <p:nvSpPr>
            <p:cNvPr id="63" name="TextBox 20"/>
            <p:cNvSpPr txBox="1"/>
            <p:nvPr/>
          </p:nvSpPr>
          <p:spPr>
            <a:xfrm>
              <a:off x="9755424" y="14144153"/>
              <a:ext cx="3451679" cy="2091689"/>
            </a:xfrm>
            <a:prstGeom prst="rect">
              <a:avLst/>
            </a:prstGeom>
          </p:spPr>
          <p:txBody>
            <a:bodyPr lIns="0" tIns="0" rIns="0" bIns="0" rtlCol="0" anchor="t">
              <a:spAutoFit/>
            </a:bodyPr>
            <a:lstStyle/>
            <a:p>
              <a:pPr algn="l">
                <a:lnSpc>
                  <a:spcPts val="3360"/>
                </a:lnSpc>
              </a:pPr>
              <a:r>
                <a:rPr lang="en-US" sz="2400" b="1">
                  <a:solidFill>
                    <a:srgbClr val="1D3163"/>
                  </a:solidFill>
                  <a:latin typeface="Quicksand Bold"/>
                  <a:ea typeface="Quicksand Bold"/>
                  <a:cs typeface="Quicksand Bold"/>
                  <a:sym typeface="Quicksand Bold"/>
                </a:rPr>
                <a:t>Provides a simple menu option to mark tasks as complete, instantly reflecting the workload change.</a:t>
              </a:r>
            </a:p>
          </p:txBody>
        </p:sp>
      </p:grpSp>
      <p:sp>
        <p:nvSpPr>
          <p:cNvPr id="69" name="Rectangle 68"/>
          <p:cNvSpPr/>
          <p:nvPr/>
        </p:nvSpPr>
        <p:spPr>
          <a:xfrm>
            <a:off x="785754" y="6429384"/>
            <a:ext cx="3978974" cy="577081"/>
          </a:xfrm>
          <a:prstGeom prst="rect">
            <a:avLst/>
          </a:prstGeom>
        </p:spPr>
        <p:txBody>
          <a:bodyPr wrap="none">
            <a:spAutoFit/>
          </a:bodyPr>
          <a:lstStyle/>
          <a:p>
            <a:pPr>
              <a:lnSpc>
                <a:spcPts val="3640"/>
              </a:lnSpc>
            </a:pPr>
            <a:r>
              <a:rPr lang="en-US" sz="3600" dirty="0" smtClean="0">
                <a:solidFill>
                  <a:srgbClr val="1D3163"/>
                </a:solidFill>
                <a:latin typeface="Bungee"/>
                <a:ea typeface="Bungee"/>
                <a:cs typeface="Bungee"/>
                <a:sym typeface="Bungee"/>
              </a:rPr>
              <a:t>PRO FEATURES:</a:t>
            </a:r>
            <a:endParaRPr lang="en-US" sz="3600" dirty="0">
              <a:solidFill>
                <a:srgbClr val="1D3163"/>
              </a:solidFill>
              <a:latin typeface="Bungee"/>
              <a:ea typeface="Bungee"/>
              <a:cs typeface="Bungee"/>
              <a:sym typeface="Bungee"/>
            </a:endParaRPr>
          </a:p>
        </p:txBody>
      </p:sp>
      <p:sp>
        <p:nvSpPr>
          <p:cNvPr id="5" name="Rectangle 4"/>
          <p:cNvSpPr/>
          <p:nvPr/>
        </p:nvSpPr>
        <p:spPr>
          <a:xfrm>
            <a:off x="1497191" y="7261063"/>
            <a:ext cx="9144000" cy="2308324"/>
          </a:xfrm>
          <a:prstGeom prst="rect">
            <a:avLst/>
          </a:prstGeom>
        </p:spPr>
        <p:txBody>
          <a:bodyPr>
            <a:spAutoFit/>
          </a:bodyPr>
          <a:lstStyle/>
          <a:p>
            <a:pPr lvl="0" eaLnBrk="0" fontAlgn="base" hangingPunct="0">
              <a:spcBef>
                <a:spcPct val="0"/>
              </a:spcBef>
              <a:spcAft>
                <a:spcPct val="0"/>
              </a:spcAft>
            </a:pPr>
            <a:r>
              <a:rPr lang="en-US" altLang="en-US" b="1" dirty="0">
                <a:latin typeface="Arial" panose="020B0604020202020204" pitchFamily="34" charset="0"/>
              </a:rPr>
              <a:t>Live Updates:</a:t>
            </a:r>
            <a:r>
              <a:rPr lang="en-US" altLang="en-US" dirty="0">
                <a:latin typeface="Arial" panose="020B0604020202020204" pitchFamily="34" charset="0"/>
              </a:rPr>
              <a:t> I set up a "Search" feature that listens to your keyboard. As soon as you type a letter, the list updates instantly, no "Search" button required.</a:t>
            </a:r>
          </a:p>
          <a:p>
            <a:pPr lvl="0" eaLnBrk="0" fontAlgn="base" hangingPunct="0">
              <a:spcBef>
                <a:spcPct val="0"/>
              </a:spcBef>
              <a:spcAft>
                <a:spcPct val="0"/>
              </a:spcAft>
            </a:pPr>
            <a:r>
              <a:rPr lang="en-US" altLang="en-US" b="1" dirty="0">
                <a:latin typeface="Arial" panose="020B0604020202020204" pitchFamily="34" charset="0"/>
              </a:rPr>
              <a:t>Automatic Priority:</a:t>
            </a:r>
            <a:r>
              <a:rPr lang="en-US" altLang="en-US" dirty="0">
                <a:latin typeface="Arial" panose="020B0604020202020204" pitchFamily="34" charset="0"/>
              </a:rPr>
              <a:t> The app does the thinking for you when it comes to order. It uses a sorting rule that pushes your urgent "High Priority" tasks to the top and moves finished tasks to the bottom so they stay out of your way.</a:t>
            </a:r>
          </a:p>
          <a:p>
            <a:pPr lvl="0" eaLnBrk="0" fontAlgn="base" hangingPunct="0">
              <a:spcBef>
                <a:spcPct val="0"/>
              </a:spcBef>
              <a:spcAft>
                <a:spcPct val="0"/>
              </a:spcAft>
            </a:pPr>
            <a:r>
              <a:rPr lang="en-US" altLang="en-US" b="1" dirty="0">
                <a:latin typeface="Arial" panose="020B0604020202020204" pitchFamily="34" charset="0"/>
              </a:rPr>
              <a:t>Safety First:</a:t>
            </a:r>
            <a:r>
              <a:rPr lang="en-US" altLang="en-US" dirty="0">
                <a:latin typeface="Arial" panose="020B0604020202020204" pitchFamily="34" charset="0"/>
              </a:rPr>
              <a:t> To prevent the app from breaking, I added Input Validation. This means if you accidentally type "Two" instead of "2" for hours, the app will gently tell you there’s a mistake rather than just crashing.</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 name="Group 44"/>
          <p:cNvGrpSpPr/>
          <p:nvPr/>
        </p:nvGrpSpPr>
        <p:grpSpPr>
          <a:xfrm>
            <a:off x="4607496" y="2407196"/>
            <a:ext cx="11444012" cy="5197535"/>
            <a:chOff x="1471027" y="5868989"/>
            <a:chExt cx="11444012" cy="5197535"/>
          </a:xfrm>
        </p:grpSpPr>
        <p:grpSp>
          <p:nvGrpSpPr>
            <p:cNvPr id="2" name="Group 3"/>
            <p:cNvGrpSpPr/>
            <p:nvPr/>
          </p:nvGrpSpPr>
          <p:grpSpPr>
            <a:xfrm>
              <a:off x="1471027" y="6122145"/>
              <a:ext cx="3640145" cy="1383990"/>
              <a:chOff x="0" y="0"/>
              <a:chExt cx="958721" cy="364508"/>
            </a:xfrm>
          </p:grpSpPr>
          <p:sp>
            <p:nvSpPr>
              <p:cNvPr id="3" name="Freeform 4"/>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4" name="TextBox 5"/>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6" name="TextBox 7"/>
            <p:cNvSpPr txBox="1"/>
            <p:nvPr/>
          </p:nvSpPr>
          <p:spPr>
            <a:xfrm>
              <a:off x="1542465" y="6286708"/>
              <a:ext cx="3431967" cy="461665"/>
            </a:xfrm>
            <a:prstGeom prst="rect">
              <a:avLst/>
            </a:prstGeom>
          </p:spPr>
          <p:txBody>
            <a:bodyPr wrap="square" lIns="0" tIns="0" rIns="0" bIns="0" rtlCol="0" anchor="t">
              <a:spAutoFit/>
            </a:bodyPr>
            <a:lstStyle/>
            <a:p>
              <a:pPr>
                <a:lnSpc>
                  <a:spcPts val="3640"/>
                </a:lnSpc>
              </a:pPr>
              <a:r>
                <a:rPr lang="en-US" sz="2600" dirty="0" smtClean="0">
                  <a:solidFill>
                    <a:srgbClr val="1D3163"/>
                  </a:solidFill>
                  <a:latin typeface="Bungee"/>
                  <a:ea typeface="Bungee"/>
                  <a:cs typeface="Bungee"/>
                  <a:sym typeface="Bungee"/>
                </a:rPr>
                <a:t>Live updates</a:t>
              </a:r>
              <a:endParaRPr lang="en-US" sz="2600" dirty="0">
                <a:solidFill>
                  <a:srgbClr val="1D3163"/>
                </a:solidFill>
                <a:latin typeface="Bungee"/>
                <a:ea typeface="Bungee"/>
                <a:cs typeface="Bungee"/>
                <a:sym typeface="Bungee"/>
              </a:endParaRPr>
            </a:p>
          </p:txBody>
        </p:sp>
        <p:sp>
          <p:nvSpPr>
            <p:cNvPr id="7" name="TextBox 8"/>
            <p:cNvSpPr txBox="1"/>
            <p:nvPr/>
          </p:nvSpPr>
          <p:spPr>
            <a:xfrm>
              <a:off x="1565260" y="7795895"/>
              <a:ext cx="3451679" cy="2215991"/>
            </a:xfrm>
            <a:prstGeom prst="rect">
              <a:avLst/>
            </a:prstGeom>
          </p:spPr>
          <p:txBody>
            <a:bodyPr lIns="0" tIns="0" rIns="0" bIns="0" rtlCol="0" anchor="t">
              <a:spAutoFit/>
            </a:bodyPr>
            <a:lstStyle/>
            <a:p>
              <a:pPr lvl="0" eaLnBrk="0" fontAlgn="base" hangingPunct="0">
                <a:spcBef>
                  <a:spcPct val="0"/>
                </a:spcBef>
                <a:spcAft>
                  <a:spcPct val="0"/>
                </a:spcAft>
              </a:pPr>
              <a:r>
                <a:rPr lang="en-US" altLang="en-US" sz="2400" dirty="0">
                  <a:latin typeface="Arial" panose="020B0604020202020204" pitchFamily="34" charset="0"/>
                </a:rPr>
                <a:t>I set up a "Search" feature that listens to your keyboard. As soon as you type a letter, the list updates instantly, no "Search" button required.</a:t>
              </a:r>
              <a:endParaRPr lang="en-US" altLang="en-US" sz="2400" dirty="0">
                <a:latin typeface="Arial" panose="020B0604020202020204" pitchFamily="34" charset="0"/>
              </a:endParaRPr>
            </a:p>
          </p:txBody>
        </p:sp>
        <p:grpSp>
          <p:nvGrpSpPr>
            <p:cNvPr id="8" name="Group 9"/>
            <p:cNvGrpSpPr/>
            <p:nvPr/>
          </p:nvGrpSpPr>
          <p:grpSpPr>
            <a:xfrm>
              <a:off x="5372961" y="5929518"/>
              <a:ext cx="3667300" cy="1637146"/>
              <a:chOff x="0" y="-50733"/>
              <a:chExt cx="965873" cy="431183"/>
            </a:xfrm>
          </p:grpSpPr>
          <p:sp>
            <p:nvSpPr>
              <p:cNvPr id="9" name="Freeform 10"/>
              <p:cNvSpPr/>
              <p:nvPr/>
            </p:nvSpPr>
            <p:spPr>
              <a:xfrm>
                <a:off x="0" y="0"/>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10" name="TextBox 11"/>
              <p:cNvSpPr txBox="1"/>
              <p:nvPr/>
            </p:nvSpPr>
            <p:spPr>
              <a:xfrm>
                <a:off x="7152" y="-50733"/>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12" name="TextBox 13"/>
            <p:cNvSpPr txBox="1"/>
            <p:nvPr/>
          </p:nvSpPr>
          <p:spPr>
            <a:xfrm>
              <a:off x="5657441" y="6304870"/>
              <a:ext cx="3074529" cy="897682"/>
            </a:xfrm>
            <a:prstGeom prst="rect">
              <a:avLst/>
            </a:prstGeom>
          </p:spPr>
          <p:txBody>
            <a:bodyPr lIns="0" tIns="0" rIns="0" bIns="0" rtlCol="0" anchor="t">
              <a:spAutoFit/>
            </a:bodyPr>
            <a:lstStyle/>
            <a:p>
              <a:pPr>
                <a:lnSpc>
                  <a:spcPts val="3500"/>
                </a:lnSpc>
              </a:pPr>
              <a:r>
                <a:rPr lang="en-US" sz="2500" dirty="0" smtClean="0">
                  <a:solidFill>
                    <a:srgbClr val="1D3163"/>
                  </a:solidFill>
                  <a:latin typeface="Bungee"/>
                  <a:ea typeface="Bungee"/>
                  <a:cs typeface="Bungee"/>
                  <a:sym typeface="Bungee"/>
                </a:rPr>
                <a:t>Automatic priority</a:t>
              </a:r>
              <a:endParaRPr lang="en-US" sz="2500" dirty="0">
                <a:solidFill>
                  <a:srgbClr val="1D3163"/>
                </a:solidFill>
                <a:latin typeface="Bungee"/>
                <a:ea typeface="Bungee"/>
                <a:cs typeface="Bungee"/>
                <a:sym typeface="Bungee"/>
              </a:endParaRPr>
            </a:p>
          </p:txBody>
        </p:sp>
        <p:sp>
          <p:nvSpPr>
            <p:cNvPr id="13" name="TextBox 14"/>
            <p:cNvSpPr txBox="1"/>
            <p:nvPr/>
          </p:nvSpPr>
          <p:spPr>
            <a:xfrm>
              <a:off x="5471555" y="7742537"/>
              <a:ext cx="3451679" cy="3323987"/>
            </a:xfrm>
            <a:prstGeom prst="rect">
              <a:avLst/>
            </a:prstGeom>
          </p:spPr>
          <p:txBody>
            <a:bodyPr lIns="0" tIns="0" rIns="0" bIns="0" rtlCol="0" anchor="t">
              <a:spAutoFit/>
            </a:bodyPr>
            <a:lstStyle/>
            <a:p>
              <a:pPr lvl="0" eaLnBrk="0" fontAlgn="base" hangingPunct="0">
                <a:spcBef>
                  <a:spcPct val="0"/>
                </a:spcBef>
                <a:spcAft>
                  <a:spcPct val="0"/>
                </a:spcAft>
              </a:pPr>
              <a:r>
                <a:rPr lang="en-US" altLang="en-US" sz="2400" dirty="0">
                  <a:latin typeface="Arial" panose="020B0604020202020204" pitchFamily="34" charset="0"/>
                </a:rPr>
                <a:t>The app does the thinking for you when it comes to order. It uses a sorting rule that pushes your urgent "High Priority" tasks to the top and moves finished tasks to the bottom so they stay out of your way.</a:t>
              </a:r>
              <a:endParaRPr lang="en-US" altLang="en-US" sz="2400" dirty="0">
                <a:latin typeface="Arial" panose="020B0604020202020204" pitchFamily="34" charset="0"/>
              </a:endParaRPr>
            </a:p>
          </p:txBody>
        </p:sp>
        <p:grpSp>
          <p:nvGrpSpPr>
            <p:cNvPr id="14" name="Group 15"/>
            <p:cNvGrpSpPr/>
            <p:nvPr/>
          </p:nvGrpSpPr>
          <p:grpSpPr>
            <a:xfrm>
              <a:off x="9247739" y="5868989"/>
              <a:ext cx="3667300" cy="1649247"/>
              <a:chOff x="-7152" y="-66675"/>
              <a:chExt cx="965873" cy="434370"/>
            </a:xfrm>
          </p:grpSpPr>
          <p:sp>
            <p:nvSpPr>
              <p:cNvPr id="15" name="Freeform 16"/>
              <p:cNvSpPr/>
              <p:nvPr/>
            </p:nvSpPr>
            <p:spPr>
              <a:xfrm>
                <a:off x="-7152" y="3187"/>
                <a:ext cx="958721" cy="364508"/>
              </a:xfrm>
              <a:custGeom>
                <a:avLst/>
                <a:gdLst/>
                <a:ahLst/>
                <a:cxnLst/>
                <a:rect l="l" t="t" r="r" b="b"/>
                <a:pathLst>
                  <a:path w="958721" h="364508">
                    <a:moveTo>
                      <a:pt x="95707" y="0"/>
                    </a:moveTo>
                    <a:lnTo>
                      <a:pt x="863015" y="0"/>
                    </a:lnTo>
                    <a:cubicBezTo>
                      <a:pt x="915872" y="0"/>
                      <a:pt x="958721" y="42849"/>
                      <a:pt x="958721" y="95707"/>
                    </a:cubicBezTo>
                    <a:lnTo>
                      <a:pt x="958721" y="268801"/>
                    </a:lnTo>
                    <a:cubicBezTo>
                      <a:pt x="958721" y="321658"/>
                      <a:pt x="915872" y="364508"/>
                      <a:pt x="863015" y="364508"/>
                    </a:cubicBezTo>
                    <a:lnTo>
                      <a:pt x="95707" y="364508"/>
                    </a:lnTo>
                    <a:cubicBezTo>
                      <a:pt x="42849" y="364508"/>
                      <a:pt x="0" y="321658"/>
                      <a:pt x="0" y="268801"/>
                    </a:cubicBezTo>
                    <a:lnTo>
                      <a:pt x="0" y="95707"/>
                    </a:lnTo>
                    <a:cubicBezTo>
                      <a:pt x="0" y="42849"/>
                      <a:pt x="42849" y="0"/>
                      <a:pt x="95707" y="0"/>
                    </a:cubicBezTo>
                    <a:close/>
                  </a:path>
                </a:pathLst>
              </a:custGeom>
              <a:solidFill>
                <a:srgbClr val="ABBADA"/>
              </a:solidFill>
            </p:spPr>
          </p:sp>
          <p:sp>
            <p:nvSpPr>
              <p:cNvPr id="16" name="TextBox 17"/>
              <p:cNvSpPr txBox="1"/>
              <p:nvPr/>
            </p:nvSpPr>
            <p:spPr>
              <a:xfrm>
                <a:off x="0" y="-66675"/>
                <a:ext cx="958721" cy="431183"/>
              </a:xfrm>
              <a:prstGeom prst="rect">
                <a:avLst/>
              </a:prstGeom>
            </p:spPr>
            <p:txBody>
              <a:bodyPr lIns="50800" tIns="50800" rIns="50800" bIns="50800" rtlCol="0" anchor="ctr"/>
              <a:lstStyle/>
              <a:p>
                <a:pPr algn="ctr">
                  <a:lnSpc>
                    <a:spcPts val="3919"/>
                  </a:lnSpc>
                  <a:spcBef>
                    <a:spcPct val="0"/>
                  </a:spcBef>
                </a:pPr>
                <a:endParaRPr/>
              </a:p>
            </p:txBody>
          </p:sp>
        </p:grpSp>
        <p:sp>
          <p:nvSpPr>
            <p:cNvPr id="18" name="TextBox 19"/>
            <p:cNvSpPr txBox="1"/>
            <p:nvPr/>
          </p:nvSpPr>
          <p:spPr>
            <a:xfrm>
              <a:off x="9557702" y="6304870"/>
              <a:ext cx="3074529" cy="448841"/>
            </a:xfrm>
            <a:prstGeom prst="rect">
              <a:avLst/>
            </a:prstGeom>
          </p:spPr>
          <p:txBody>
            <a:bodyPr lIns="0" tIns="0" rIns="0" bIns="0" rtlCol="0" anchor="t">
              <a:spAutoFit/>
            </a:bodyPr>
            <a:lstStyle/>
            <a:p>
              <a:pPr>
                <a:lnSpc>
                  <a:spcPts val="3500"/>
                </a:lnSpc>
              </a:pPr>
              <a:r>
                <a:rPr lang="en-US" sz="2800" dirty="0" smtClean="0">
                  <a:solidFill>
                    <a:srgbClr val="1D3163"/>
                  </a:solidFill>
                  <a:latin typeface="Bungee"/>
                  <a:ea typeface="Bungee"/>
                  <a:cs typeface="Bungee"/>
                  <a:sym typeface="Bungee"/>
                </a:rPr>
                <a:t>Safety first</a:t>
              </a:r>
              <a:endParaRPr lang="en-US" sz="2800" dirty="0">
                <a:solidFill>
                  <a:srgbClr val="1D3163"/>
                </a:solidFill>
                <a:latin typeface="Bungee"/>
                <a:ea typeface="Bungee"/>
                <a:cs typeface="Bungee"/>
                <a:sym typeface="Bungee"/>
              </a:endParaRPr>
            </a:p>
          </p:txBody>
        </p:sp>
        <p:sp>
          <p:nvSpPr>
            <p:cNvPr id="19" name="TextBox 20"/>
            <p:cNvSpPr txBox="1"/>
            <p:nvPr/>
          </p:nvSpPr>
          <p:spPr>
            <a:xfrm>
              <a:off x="9369127" y="7786370"/>
              <a:ext cx="3451679" cy="2954655"/>
            </a:xfrm>
            <a:prstGeom prst="rect">
              <a:avLst/>
            </a:prstGeom>
          </p:spPr>
          <p:txBody>
            <a:bodyPr lIns="0" tIns="0" rIns="0" bIns="0" rtlCol="0" anchor="t">
              <a:spAutoFit/>
            </a:bodyPr>
            <a:lstStyle/>
            <a:p>
              <a:pPr lvl="0" eaLnBrk="0" fontAlgn="base" hangingPunct="0">
                <a:spcBef>
                  <a:spcPct val="0"/>
                </a:spcBef>
                <a:spcAft>
                  <a:spcPct val="0"/>
                </a:spcAft>
              </a:pPr>
              <a:r>
                <a:rPr lang="en-US" altLang="en-US" sz="2400" dirty="0">
                  <a:latin typeface="Arial" panose="020B0604020202020204" pitchFamily="34" charset="0"/>
                </a:rPr>
                <a:t>To prevent the app from breaking, I added Input Validation. This means if you accidentally type "Two" instead of "2" for hours, the app will gently tell you there’s a mistake rather than just crashing.</a:t>
              </a:r>
              <a:endParaRPr lang="en-US" altLang="en-US" sz="2400" dirty="0">
                <a:latin typeface="Arial" panose="020B0604020202020204" pitchFamily="34" charset="0"/>
              </a:endParaRPr>
            </a:p>
          </p:txBody>
        </p:sp>
      </p:grpSp>
      <p:grpSp>
        <p:nvGrpSpPr>
          <p:cNvPr id="65" name="Group 64"/>
          <p:cNvGrpSpPr/>
          <p:nvPr/>
        </p:nvGrpSpPr>
        <p:grpSpPr>
          <a:xfrm>
            <a:off x="4607496" y="418986"/>
            <a:ext cx="13147665" cy="1698810"/>
            <a:chOff x="3084937" y="10287000"/>
            <a:chExt cx="13147665" cy="1698810"/>
          </a:xfrm>
        </p:grpSpPr>
        <p:sp>
          <p:nvSpPr>
            <p:cNvPr id="23" name="Freeform 24"/>
            <p:cNvSpPr/>
            <p:nvPr/>
          </p:nvSpPr>
          <p:spPr>
            <a:xfrm>
              <a:off x="14533792" y="10287000"/>
              <a:ext cx="1698810" cy="1698810"/>
            </a:xfrm>
            <a:custGeom>
              <a:avLst/>
              <a:gdLst/>
              <a:ahLst/>
              <a:cxnLst/>
              <a:rect l="l" t="t" r="r" b="b"/>
              <a:pathLst>
                <a:path w="1698810" h="1698810">
                  <a:moveTo>
                    <a:pt x="0" y="0"/>
                  </a:moveTo>
                  <a:lnTo>
                    <a:pt x="1698810" y="0"/>
                  </a:lnTo>
                  <a:lnTo>
                    <a:pt x="1698810" y="1698810"/>
                  </a:lnTo>
                  <a:lnTo>
                    <a:pt x="0" y="1698810"/>
                  </a:lnTo>
                  <a:lnTo>
                    <a:pt x="0" y="0"/>
                  </a:lnTo>
                  <a:close/>
                </a:path>
              </a:pathLst>
            </a:custGeom>
            <a:blipFill>
              <a:blip r:embed="rId2">
                <a:extLst>
                  <a:ext uri="{96DAC541-7B7A-43D3-8B79-37D633B846F1}">
                    <asvg:svgBlip xmlns:asvg="http://schemas.microsoft.com/office/drawing/2016/SVG/main" xmlns="" r:embed="rId9"/>
                  </a:ext>
                </a:extLst>
              </a:blip>
              <a:stretch>
                <a:fillRect/>
              </a:stretch>
            </a:blipFill>
          </p:spPr>
        </p:sp>
        <p:sp>
          <p:nvSpPr>
            <p:cNvPr id="49" name="Freeform 6"/>
            <p:cNvSpPr/>
            <p:nvPr/>
          </p:nvSpPr>
          <p:spPr>
            <a:xfrm>
              <a:off x="3084937" y="10287000"/>
              <a:ext cx="1184920" cy="1698810"/>
            </a:xfrm>
            <a:custGeom>
              <a:avLst/>
              <a:gdLst/>
              <a:ahLst/>
              <a:cxnLst/>
              <a:rect l="l" t="t" r="r" b="b"/>
              <a:pathLst>
                <a:path w="1184920" h="1698810">
                  <a:moveTo>
                    <a:pt x="0" y="0"/>
                  </a:moveTo>
                  <a:lnTo>
                    <a:pt x="1184920" y="0"/>
                  </a:lnTo>
                  <a:lnTo>
                    <a:pt x="1184920" y="1698810"/>
                  </a:lnTo>
                  <a:lnTo>
                    <a:pt x="0" y="1698810"/>
                  </a:lnTo>
                  <a:lnTo>
                    <a:pt x="0" y="0"/>
                  </a:lnTo>
                  <a:close/>
                </a:path>
              </a:pathLst>
            </a:custGeom>
            <a:blipFill>
              <a:blip r:embed="rId10">
                <a:extLst>
                  <a:ext uri="{96DAC541-7B7A-43D3-8B79-37D633B846F1}">
                    <asvg:svgBlip xmlns:asvg="http://schemas.microsoft.com/office/drawing/2016/SVG/main" xmlns="" r:embed="rId3"/>
                  </a:ext>
                </a:extLst>
              </a:blip>
              <a:stretch>
                <a:fillRect/>
              </a:stretch>
            </a:blipFill>
          </p:spPr>
        </p:sp>
        <p:sp>
          <p:nvSpPr>
            <p:cNvPr id="55" name="Freeform 12"/>
            <p:cNvSpPr/>
            <p:nvPr/>
          </p:nvSpPr>
          <p:spPr>
            <a:xfrm>
              <a:off x="6814180" y="10499243"/>
              <a:ext cx="1530301" cy="1274323"/>
            </a:xfrm>
            <a:custGeom>
              <a:avLst/>
              <a:gdLst/>
              <a:ahLst/>
              <a:cxnLst/>
              <a:rect l="l" t="t" r="r" b="b"/>
              <a:pathLst>
                <a:path w="1530301" h="1274323">
                  <a:moveTo>
                    <a:pt x="0" y="0"/>
                  </a:moveTo>
                  <a:lnTo>
                    <a:pt x="1530301" y="0"/>
                  </a:lnTo>
                  <a:lnTo>
                    <a:pt x="1530301" y="1274324"/>
                  </a:lnTo>
                  <a:lnTo>
                    <a:pt x="0" y="1274324"/>
                  </a:lnTo>
                  <a:lnTo>
                    <a:pt x="0" y="0"/>
                  </a:lnTo>
                  <a:close/>
                </a:path>
              </a:pathLst>
            </a:custGeom>
            <a:blipFill>
              <a:blip r:embed="rId11">
                <a:extLst>
                  <a:ext uri="{96DAC541-7B7A-43D3-8B79-37D633B846F1}">
                    <asvg:svgBlip xmlns:asvg="http://schemas.microsoft.com/office/drawing/2016/SVG/main" xmlns="" r:embed="rId5"/>
                  </a:ext>
                </a:extLst>
              </a:blip>
              <a:stretch>
                <a:fillRect/>
              </a:stretch>
            </a:blipFill>
          </p:spPr>
        </p:sp>
        <p:sp>
          <p:nvSpPr>
            <p:cNvPr id="61" name="Freeform 18"/>
            <p:cNvSpPr/>
            <p:nvPr/>
          </p:nvSpPr>
          <p:spPr>
            <a:xfrm>
              <a:off x="10738384" y="10393525"/>
              <a:ext cx="1485760" cy="1485760"/>
            </a:xfrm>
            <a:custGeom>
              <a:avLst/>
              <a:gdLst/>
              <a:ahLst/>
              <a:cxnLst/>
              <a:rect l="l" t="t" r="r" b="b"/>
              <a:pathLst>
                <a:path w="1485760" h="1485760">
                  <a:moveTo>
                    <a:pt x="0" y="0"/>
                  </a:moveTo>
                  <a:lnTo>
                    <a:pt x="1485760" y="0"/>
                  </a:lnTo>
                  <a:lnTo>
                    <a:pt x="1485760" y="1485760"/>
                  </a:lnTo>
                  <a:lnTo>
                    <a:pt x="0" y="1485760"/>
                  </a:lnTo>
                  <a:lnTo>
                    <a:pt x="0" y="0"/>
                  </a:lnTo>
                  <a:close/>
                </a:path>
              </a:pathLst>
            </a:custGeom>
            <a:blipFill>
              <a:blip r:embed="rId12">
                <a:extLst>
                  <a:ext uri="{96DAC541-7B7A-43D3-8B79-37D633B846F1}">
                    <asvg:svgBlip xmlns:asvg="http://schemas.microsoft.com/office/drawing/2016/SVG/main" xmlns="" r:embed="rId7"/>
                  </a:ext>
                </a:extLst>
              </a:blip>
              <a:stretch>
                <a:fillRect/>
              </a:stretch>
            </a:blipFill>
          </p:spPr>
        </p:sp>
      </p:grpSp>
      <p:sp>
        <p:nvSpPr>
          <p:cNvPr id="69" name="Rectangle 68"/>
          <p:cNvSpPr/>
          <p:nvPr/>
        </p:nvSpPr>
        <p:spPr>
          <a:xfrm>
            <a:off x="318902" y="3144479"/>
            <a:ext cx="3978974" cy="577081"/>
          </a:xfrm>
          <a:prstGeom prst="rect">
            <a:avLst/>
          </a:prstGeom>
        </p:spPr>
        <p:txBody>
          <a:bodyPr wrap="none">
            <a:spAutoFit/>
          </a:bodyPr>
          <a:lstStyle/>
          <a:p>
            <a:pPr>
              <a:lnSpc>
                <a:spcPts val="3640"/>
              </a:lnSpc>
            </a:pPr>
            <a:r>
              <a:rPr lang="en-US" sz="3600" dirty="0" smtClean="0">
                <a:solidFill>
                  <a:srgbClr val="1D3163"/>
                </a:solidFill>
                <a:latin typeface="Bungee"/>
                <a:ea typeface="Bungee"/>
                <a:cs typeface="Bungee"/>
                <a:sym typeface="Bungee"/>
              </a:rPr>
              <a:t>PRO FEATURES:</a:t>
            </a:r>
            <a:endParaRPr lang="en-US" sz="3600" dirty="0">
              <a:solidFill>
                <a:srgbClr val="1D3163"/>
              </a:solidFill>
              <a:latin typeface="Bungee"/>
              <a:ea typeface="Bungee"/>
              <a:cs typeface="Bungee"/>
              <a:sym typeface="Bungee"/>
            </a:endParaRPr>
          </a:p>
        </p:txBody>
      </p:sp>
      <p:sp>
        <p:nvSpPr>
          <p:cNvPr id="64" name="Rectangle 63"/>
          <p:cNvSpPr/>
          <p:nvPr/>
        </p:nvSpPr>
        <p:spPr>
          <a:xfrm>
            <a:off x="1497191" y="7261063"/>
            <a:ext cx="9144000" cy="369332"/>
          </a:xfrm>
          <a:prstGeom prst="rect">
            <a:avLst/>
          </a:prstGeom>
        </p:spPr>
        <p:txBody>
          <a:bodyPr>
            <a:spAutoFit/>
          </a:bodyPr>
          <a:lstStyle/>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29776891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txBox="1"/>
          <p:nvPr/>
        </p:nvSpPr>
        <p:spPr>
          <a:xfrm>
            <a:off x="1357258" y="1582329"/>
            <a:ext cx="11501518" cy="1846659"/>
          </a:xfrm>
          <a:prstGeom prst="rect">
            <a:avLst/>
          </a:prstGeom>
        </p:spPr>
        <p:txBody>
          <a:bodyPr wrap="square" lIns="0" tIns="0" rIns="0" bIns="0" rtlCol="0" anchor="t">
            <a:spAutoFit/>
          </a:bodyPr>
          <a:lstStyle/>
          <a:p>
            <a:pPr>
              <a:lnSpc>
                <a:spcPts val="7200"/>
              </a:lnSpc>
            </a:pPr>
            <a:r>
              <a:rPr lang="en-US" sz="8000" dirty="0" smtClean="0">
                <a:solidFill>
                  <a:srgbClr val="1D3163"/>
                </a:solidFill>
                <a:latin typeface="Bungee"/>
                <a:ea typeface="Bungee"/>
                <a:cs typeface="Bungee"/>
                <a:sym typeface="Bungee"/>
              </a:rPr>
              <a:t>User Experience (UX) Design </a:t>
            </a:r>
            <a:endParaRPr lang="en-US" sz="8000" dirty="0">
              <a:solidFill>
                <a:srgbClr val="1D3163"/>
              </a:solidFill>
              <a:latin typeface="Bungee"/>
              <a:ea typeface="Bungee"/>
              <a:cs typeface="Bungee"/>
              <a:sym typeface="Bungee"/>
            </a:endParaRPr>
          </a:p>
        </p:txBody>
      </p:sp>
      <p:sp>
        <p:nvSpPr>
          <p:cNvPr id="3" name="Freeform 2"/>
          <p:cNvSpPr/>
          <p:nvPr/>
        </p:nvSpPr>
        <p:spPr>
          <a:xfrm>
            <a:off x="10644198" y="4071930"/>
            <a:ext cx="6556199" cy="5149596"/>
          </a:xfrm>
          <a:custGeom>
            <a:avLst/>
            <a:gdLst/>
            <a:ahLst/>
            <a:cxnLst/>
            <a:rect l="l" t="t" r="r" b="b"/>
            <a:pathLst>
              <a:path w="6556199" h="5149596">
                <a:moveTo>
                  <a:pt x="0" y="0"/>
                </a:moveTo>
                <a:lnTo>
                  <a:pt x="6556199" y="0"/>
                </a:lnTo>
                <a:lnTo>
                  <a:pt x="6556199" y="5149596"/>
                </a:lnTo>
                <a:lnTo>
                  <a:pt x="0" y="514959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TextBox 5"/>
          <p:cNvSpPr txBox="1"/>
          <p:nvPr/>
        </p:nvSpPr>
        <p:spPr>
          <a:xfrm>
            <a:off x="1142944" y="3768086"/>
            <a:ext cx="970307" cy="803910"/>
          </a:xfrm>
          <a:prstGeom prst="rect">
            <a:avLst/>
          </a:prstGeom>
        </p:spPr>
        <p:txBody>
          <a:bodyPr lIns="0" tIns="0" rIns="0" bIns="0" rtlCol="0" anchor="t">
            <a:spAutoFit/>
          </a:bodyPr>
          <a:lstStyle/>
          <a:p>
            <a:pPr algn="l">
              <a:lnSpc>
                <a:spcPts val="5040"/>
              </a:lnSpc>
            </a:pPr>
            <a:r>
              <a:rPr lang="en-US" sz="5600" dirty="0">
                <a:solidFill>
                  <a:srgbClr val="1D3163"/>
                </a:solidFill>
                <a:latin typeface="Bungee"/>
                <a:ea typeface="Bungee"/>
                <a:cs typeface="Bungee"/>
                <a:sym typeface="Bungee"/>
              </a:rPr>
              <a:t>1.</a:t>
            </a:r>
          </a:p>
        </p:txBody>
      </p:sp>
      <p:sp>
        <p:nvSpPr>
          <p:cNvPr id="5" name="TextBox 6"/>
          <p:cNvSpPr txBox="1"/>
          <p:nvPr/>
        </p:nvSpPr>
        <p:spPr>
          <a:xfrm>
            <a:off x="1101331" y="6500822"/>
            <a:ext cx="970307" cy="696344"/>
          </a:xfrm>
          <a:prstGeom prst="rect">
            <a:avLst/>
          </a:prstGeom>
        </p:spPr>
        <p:txBody>
          <a:bodyPr lIns="0" tIns="0" rIns="0" bIns="0" rtlCol="0" anchor="t">
            <a:spAutoFit/>
          </a:bodyPr>
          <a:lstStyle/>
          <a:p>
            <a:pPr>
              <a:lnSpc>
                <a:spcPts val="5040"/>
              </a:lnSpc>
            </a:pPr>
            <a:r>
              <a:rPr lang="en-US" sz="5600" dirty="0" smtClean="0">
                <a:solidFill>
                  <a:srgbClr val="1D3163"/>
                </a:solidFill>
                <a:latin typeface="Bungee"/>
                <a:ea typeface="Bungee"/>
                <a:cs typeface="Bungee"/>
                <a:sym typeface="Bungee"/>
              </a:rPr>
              <a:t>2.</a:t>
            </a:r>
            <a:endParaRPr lang="en-US" sz="5600" dirty="0">
              <a:solidFill>
                <a:srgbClr val="1D3163"/>
              </a:solidFill>
              <a:latin typeface="Bungee"/>
              <a:ea typeface="Bungee"/>
              <a:cs typeface="Bungee"/>
              <a:sym typeface="Bungee"/>
            </a:endParaRPr>
          </a:p>
        </p:txBody>
      </p:sp>
      <p:sp>
        <p:nvSpPr>
          <p:cNvPr id="1025" name="Rectangle 1"/>
          <p:cNvSpPr>
            <a:spLocks noChangeArrowheads="1"/>
          </p:cNvSpPr>
          <p:nvPr/>
        </p:nvSpPr>
        <p:spPr bwMode="auto">
          <a:xfrm>
            <a:off x="2000200" y="3714740"/>
            <a:ext cx="7715304"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ctr">
              <a:spcBef>
                <a:spcPct val="0"/>
              </a:spcBef>
              <a:spcAft>
                <a:spcPct val="0"/>
              </a:spcAft>
            </a:pPr>
            <a:r>
              <a:rPr lang="en-US" sz="3000" dirty="0" smtClean="0">
                <a:solidFill>
                  <a:srgbClr val="000000"/>
                </a:solidFill>
                <a:latin typeface="Quicksand Bold" charset="0"/>
                <a:cs typeface="Segoe UI Historic" pitchFamily="34" charset="0"/>
              </a:rPr>
              <a:t>Used Unicode </a:t>
            </a:r>
            <a:r>
              <a:rPr lang="en-US" sz="3000" smtClean="0">
                <a:solidFill>
                  <a:srgbClr val="000000"/>
                </a:solidFill>
                <a:latin typeface="Quicksand Bold" charset="0"/>
                <a:cs typeface="Segoe UI Historic" pitchFamily="34" charset="0"/>
              </a:rPr>
              <a:t>Icons to </a:t>
            </a:r>
            <a:r>
              <a:rPr lang="en-US" sz="3000" dirty="0" smtClean="0">
                <a:solidFill>
                  <a:srgbClr val="000000"/>
                </a:solidFill>
                <a:latin typeface="Quicksand Bold" charset="0"/>
                <a:cs typeface="Segoe UI Historic" pitchFamily="34" charset="0"/>
              </a:rPr>
              <a:t>create an intuitive workspace that reduces cognitive load.</a:t>
            </a:r>
            <a:r>
              <a:rPr lang="en-US" sz="3000" dirty="0" smtClean="0">
                <a:latin typeface="Quicksand Bold" charset="0"/>
                <a:cs typeface="Arial" pitchFamily="34" charset="0"/>
              </a:rPr>
              <a:t> </a:t>
            </a:r>
            <a:endParaRPr lang="en-US" sz="3000" dirty="0" smtClean="0">
              <a:solidFill>
                <a:srgbClr val="000000"/>
              </a:solidFill>
              <a:latin typeface="Quicksand Bold" charset="0"/>
              <a:cs typeface="Segoe UI Historic" pitchFamily="34" charset="0"/>
            </a:endParaRPr>
          </a:p>
        </p:txBody>
      </p:sp>
      <p:pic>
        <p:nvPicPr>
          <p:cNvPr id="1026" name="Picture 2" descr="📝"/>
          <p:cNvPicPr>
            <a:picLocks noChangeAspect="1" noChangeArrowheads="1"/>
          </p:cNvPicPr>
          <p:nvPr/>
        </p:nvPicPr>
        <p:blipFill>
          <a:blip r:embed="rId4"/>
          <a:srcRect/>
          <a:stretch>
            <a:fillRect/>
          </a:stretch>
        </p:blipFill>
        <p:spPr bwMode="auto">
          <a:xfrm>
            <a:off x="1430338" y="-90488"/>
            <a:ext cx="152400" cy="152401"/>
          </a:xfrm>
          <a:prstGeom prst="rect">
            <a:avLst/>
          </a:prstGeom>
          <a:noFill/>
        </p:spPr>
      </p:pic>
      <p:pic>
        <p:nvPicPr>
          <p:cNvPr id="1027" name="Picture 3" descr="⏱️"/>
          <p:cNvPicPr>
            <a:picLocks noChangeAspect="1" noChangeArrowheads="1"/>
          </p:cNvPicPr>
          <p:nvPr/>
        </p:nvPicPr>
        <p:blipFill>
          <a:blip r:embed="rId5"/>
          <a:srcRect/>
          <a:stretch>
            <a:fillRect/>
          </a:stretch>
        </p:blipFill>
        <p:spPr bwMode="auto">
          <a:xfrm>
            <a:off x="2127250" y="-90488"/>
            <a:ext cx="152400" cy="152401"/>
          </a:xfrm>
          <a:prstGeom prst="rect">
            <a:avLst/>
          </a:prstGeom>
          <a:noFill/>
        </p:spPr>
      </p:pic>
      <p:pic>
        <p:nvPicPr>
          <p:cNvPr id="1028" name="Picture 4" descr="📊"/>
          <p:cNvPicPr>
            <a:picLocks noChangeAspect="1" noChangeArrowheads="1"/>
          </p:cNvPicPr>
          <p:nvPr/>
        </p:nvPicPr>
        <p:blipFill>
          <a:blip r:embed="rId6"/>
          <a:srcRect/>
          <a:stretch>
            <a:fillRect/>
          </a:stretch>
        </p:blipFill>
        <p:spPr bwMode="auto">
          <a:xfrm>
            <a:off x="2792413" y="-90488"/>
            <a:ext cx="152400" cy="152401"/>
          </a:xfrm>
          <a:prstGeom prst="rect">
            <a:avLst/>
          </a:prstGeom>
          <a:noFill/>
        </p:spPr>
      </p:pic>
      <p:sp>
        <p:nvSpPr>
          <p:cNvPr id="10" name="Rectangle 9"/>
          <p:cNvSpPr/>
          <p:nvPr/>
        </p:nvSpPr>
        <p:spPr>
          <a:xfrm>
            <a:off x="2000200" y="6636920"/>
            <a:ext cx="7429552" cy="2400657"/>
          </a:xfrm>
          <a:prstGeom prst="rect">
            <a:avLst/>
          </a:prstGeom>
        </p:spPr>
        <p:txBody>
          <a:bodyPr wrap="square">
            <a:spAutoFit/>
          </a:bodyPr>
          <a:lstStyle/>
          <a:p>
            <a:r>
              <a:rPr lang="en-US" sz="3000" dirty="0" smtClean="0">
                <a:latin typeface="Quicksand Bold" charset="0"/>
              </a:rPr>
              <a:t>Implemented a </a:t>
            </a:r>
            <a:r>
              <a:rPr lang="en-US" sz="3000" dirty="0" err="1" smtClean="0">
                <a:latin typeface="Quicksand Bold" charset="0"/>
              </a:rPr>
              <a:t>darkthemed</a:t>
            </a:r>
            <a:r>
              <a:rPr lang="en-US" sz="3000" dirty="0" smtClean="0">
                <a:latin typeface="Quicksand Bold" charset="0"/>
              </a:rPr>
              <a:t> Control Sidebar and a light-themed Dashboard Workspace to separate "Input" from "Analysis," helping the student focus on high-priority items</a:t>
            </a:r>
            <a:endParaRPr lang="en-US" sz="3000" dirty="0">
              <a:latin typeface="Quicksand Bold"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1028700"/>
            <a:ext cx="8085763" cy="4476272"/>
            <a:chOff x="0" y="0"/>
            <a:chExt cx="2130985" cy="1179712"/>
          </a:xfrm>
        </p:grpSpPr>
        <p:sp>
          <p:nvSpPr>
            <p:cNvPr id="3" name="Freeform 3"/>
            <p:cNvSpPr/>
            <p:nvPr/>
          </p:nvSpPr>
          <p:spPr>
            <a:xfrm>
              <a:off x="0" y="0"/>
              <a:ext cx="2130985" cy="1179712"/>
            </a:xfrm>
            <a:custGeom>
              <a:avLst/>
              <a:gdLst/>
              <a:ahLst/>
              <a:cxnLst/>
              <a:rect l="l" t="t" r="r" b="b"/>
              <a:pathLst>
                <a:path w="2130985" h="1179712">
                  <a:moveTo>
                    <a:pt x="95748" y="0"/>
                  </a:moveTo>
                  <a:lnTo>
                    <a:pt x="2035238" y="0"/>
                  </a:lnTo>
                  <a:cubicBezTo>
                    <a:pt x="2088118" y="0"/>
                    <a:pt x="2130985" y="42868"/>
                    <a:pt x="2130985" y="95748"/>
                  </a:cubicBezTo>
                  <a:lnTo>
                    <a:pt x="2130985" y="1083964"/>
                  </a:lnTo>
                  <a:cubicBezTo>
                    <a:pt x="2130985" y="1136844"/>
                    <a:pt x="2088118" y="1179712"/>
                    <a:pt x="2035238" y="1179712"/>
                  </a:cubicBezTo>
                  <a:lnTo>
                    <a:pt x="95748" y="1179712"/>
                  </a:lnTo>
                  <a:cubicBezTo>
                    <a:pt x="42868" y="1179712"/>
                    <a:pt x="0" y="1136844"/>
                    <a:pt x="0" y="1083964"/>
                  </a:cubicBezTo>
                  <a:lnTo>
                    <a:pt x="0" y="95748"/>
                  </a:lnTo>
                  <a:cubicBezTo>
                    <a:pt x="0" y="42868"/>
                    <a:pt x="42868" y="0"/>
                    <a:pt x="95748" y="0"/>
                  </a:cubicBezTo>
                  <a:close/>
                </a:path>
              </a:pathLst>
            </a:custGeom>
            <a:solidFill>
              <a:srgbClr val="ABBADA"/>
            </a:solidFill>
          </p:spPr>
        </p:sp>
        <p:sp>
          <p:nvSpPr>
            <p:cNvPr id="4" name="TextBox 4"/>
            <p:cNvSpPr txBox="1"/>
            <p:nvPr/>
          </p:nvSpPr>
          <p:spPr>
            <a:xfrm>
              <a:off x="0" y="-38100"/>
              <a:ext cx="2130985" cy="121781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144000" y="5613784"/>
            <a:ext cx="8085763" cy="4470938"/>
            <a:chOff x="0" y="0"/>
            <a:chExt cx="2130985" cy="1178306"/>
          </a:xfrm>
        </p:grpSpPr>
        <p:sp>
          <p:nvSpPr>
            <p:cNvPr id="6" name="Freeform 6"/>
            <p:cNvSpPr/>
            <p:nvPr/>
          </p:nvSpPr>
          <p:spPr>
            <a:xfrm>
              <a:off x="0" y="0"/>
              <a:ext cx="2130985" cy="1178306"/>
            </a:xfrm>
            <a:custGeom>
              <a:avLst/>
              <a:gdLst/>
              <a:ahLst/>
              <a:cxnLst/>
              <a:rect l="l" t="t" r="r" b="b"/>
              <a:pathLst>
                <a:path w="2130985" h="1178306">
                  <a:moveTo>
                    <a:pt x="95748" y="0"/>
                  </a:moveTo>
                  <a:lnTo>
                    <a:pt x="2035238" y="0"/>
                  </a:lnTo>
                  <a:cubicBezTo>
                    <a:pt x="2088118" y="0"/>
                    <a:pt x="2130985" y="42868"/>
                    <a:pt x="2130985" y="95748"/>
                  </a:cubicBezTo>
                  <a:lnTo>
                    <a:pt x="2130985" y="1082558"/>
                  </a:lnTo>
                  <a:cubicBezTo>
                    <a:pt x="2130985" y="1135438"/>
                    <a:pt x="2088118" y="1178306"/>
                    <a:pt x="2035238" y="1178306"/>
                  </a:cubicBezTo>
                  <a:lnTo>
                    <a:pt x="95748" y="1178306"/>
                  </a:lnTo>
                  <a:cubicBezTo>
                    <a:pt x="42868" y="1178306"/>
                    <a:pt x="0" y="1135438"/>
                    <a:pt x="0" y="1082558"/>
                  </a:cubicBezTo>
                  <a:lnTo>
                    <a:pt x="0" y="95748"/>
                  </a:lnTo>
                  <a:cubicBezTo>
                    <a:pt x="0" y="42868"/>
                    <a:pt x="42868" y="0"/>
                    <a:pt x="95748" y="0"/>
                  </a:cubicBezTo>
                  <a:close/>
                </a:path>
              </a:pathLst>
            </a:custGeom>
            <a:solidFill>
              <a:srgbClr val="FFFFFF"/>
            </a:solidFill>
          </p:spPr>
        </p:sp>
        <p:sp>
          <p:nvSpPr>
            <p:cNvPr id="7" name="TextBox 7"/>
            <p:cNvSpPr txBox="1"/>
            <p:nvPr/>
          </p:nvSpPr>
          <p:spPr>
            <a:xfrm>
              <a:off x="0" y="-38100"/>
              <a:ext cx="2130985" cy="1216406"/>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386625" y="3129913"/>
            <a:ext cx="9507104" cy="10238420"/>
          </a:xfrm>
          <a:custGeom>
            <a:avLst/>
            <a:gdLst/>
            <a:ahLst/>
            <a:cxnLst/>
            <a:rect l="l" t="t" r="r" b="b"/>
            <a:pathLst>
              <a:path w="9507104" h="10238420">
                <a:moveTo>
                  <a:pt x="0" y="0"/>
                </a:moveTo>
                <a:lnTo>
                  <a:pt x="9507104" y="0"/>
                </a:lnTo>
                <a:lnTo>
                  <a:pt x="9507104" y="10238419"/>
                </a:lnTo>
                <a:lnTo>
                  <a:pt x="0" y="10238419"/>
                </a:lnTo>
                <a:lnTo>
                  <a:pt x="0" y="0"/>
                </a:lnTo>
                <a:close/>
              </a:path>
            </a:pathLst>
          </a:custGeom>
          <a:blipFill>
            <a:blip r:embed="rId2">
              <a:extLst>
                <a:ext uri="{96DAC541-7B7A-43D3-8B79-37D633B846F1}">
                  <asvg:svgBlip xmlns:asvg="http://schemas.microsoft.com/office/drawing/2016/SVG/main" xmlns="" r:embed="rId3"/>
                </a:ext>
              </a:extLst>
            </a:blip>
            <a:stretch>
              <a:fillRect l="-201884" t="-35465" r="-335790" b="-529166"/>
            </a:stretch>
          </a:blipFill>
        </p:spPr>
      </p:sp>
      <p:sp>
        <p:nvSpPr>
          <p:cNvPr id="9" name="Freeform 9"/>
          <p:cNvSpPr/>
          <p:nvPr/>
        </p:nvSpPr>
        <p:spPr>
          <a:xfrm flipH="1">
            <a:off x="1024580" y="4225600"/>
            <a:ext cx="6664106" cy="7200900"/>
          </a:xfrm>
          <a:custGeom>
            <a:avLst/>
            <a:gdLst/>
            <a:ahLst/>
            <a:cxnLst/>
            <a:rect l="l" t="t" r="r" b="b"/>
            <a:pathLst>
              <a:path w="6664106" h="7200900">
                <a:moveTo>
                  <a:pt x="6664106" y="0"/>
                </a:moveTo>
                <a:lnTo>
                  <a:pt x="0" y="0"/>
                </a:lnTo>
                <a:lnTo>
                  <a:pt x="0" y="7200900"/>
                </a:lnTo>
                <a:lnTo>
                  <a:pt x="6664106" y="7200900"/>
                </a:lnTo>
                <a:lnTo>
                  <a:pt x="6664106"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TextBox 10"/>
          <p:cNvSpPr txBox="1"/>
          <p:nvPr/>
        </p:nvSpPr>
        <p:spPr>
          <a:xfrm>
            <a:off x="1024580" y="1081669"/>
            <a:ext cx="7635354" cy="2066926"/>
          </a:xfrm>
          <a:prstGeom prst="rect">
            <a:avLst/>
          </a:prstGeom>
        </p:spPr>
        <p:txBody>
          <a:bodyPr lIns="0" tIns="0" rIns="0" bIns="0" rtlCol="0" anchor="t">
            <a:spAutoFit/>
          </a:bodyPr>
          <a:lstStyle/>
          <a:p>
            <a:pPr algn="l">
              <a:lnSpc>
                <a:spcPts val="7200"/>
              </a:lnSpc>
            </a:pPr>
            <a:r>
              <a:rPr lang="en-US" sz="8000">
                <a:solidFill>
                  <a:srgbClr val="1D3163"/>
                </a:solidFill>
                <a:latin typeface="Bungee"/>
                <a:ea typeface="Bungee"/>
                <a:cs typeface="Bungee"/>
                <a:sym typeface="Bungee"/>
              </a:rPr>
              <a:t>inputs and outputs</a:t>
            </a:r>
          </a:p>
        </p:txBody>
      </p:sp>
      <p:sp>
        <p:nvSpPr>
          <p:cNvPr id="11" name="TextBox 11"/>
          <p:cNvSpPr txBox="1"/>
          <p:nvPr/>
        </p:nvSpPr>
        <p:spPr>
          <a:xfrm>
            <a:off x="10036448" y="1344717"/>
            <a:ext cx="3182829" cy="1285875"/>
          </a:xfrm>
          <a:prstGeom prst="rect">
            <a:avLst/>
          </a:prstGeom>
        </p:spPr>
        <p:txBody>
          <a:bodyPr lIns="0" tIns="0" rIns="0" bIns="0" rtlCol="0" anchor="t">
            <a:spAutoFit/>
          </a:bodyPr>
          <a:lstStyle/>
          <a:p>
            <a:pPr algn="l">
              <a:lnSpc>
                <a:spcPts val="3237"/>
              </a:lnSpc>
            </a:pPr>
            <a:r>
              <a:rPr lang="en-US" sz="2698">
                <a:solidFill>
                  <a:srgbClr val="1D3163"/>
                </a:solidFill>
                <a:latin typeface="Bungee"/>
                <a:ea typeface="Bungee"/>
                <a:cs typeface="Bungee"/>
                <a:sym typeface="Bungee"/>
              </a:rPr>
              <a:t>Data Input and Task Inventory</a:t>
            </a:r>
          </a:p>
        </p:txBody>
      </p:sp>
      <p:sp>
        <p:nvSpPr>
          <p:cNvPr id="12" name="TextBox 12"/>
          <p:cNvSpPr txBox="1"/>
          <p:nvPr/>
        </p:nvSpPr>
        <p:spPr>
          <a:xfrm>
            <a:off x="10036448" y="6983248"/>
            <a:ext cx="6716917" cy="2848587"/>
          </a:xfrm>
          <a:prstGeom prst="rect">
            <a:avLst/>
          </a:prstGeom>
        </p:spPr>
        <p:txBody>
          <a:bodyPr lIns="0" tIns="0" rIns="0" bIns="0" rtlCol="0" anchor="t">
            <a:spAutoFit/>
          </a:bodyPr>
          <a:lstStyle/>
          <a:p>
            <a:pPr algn="l">
              <a:lnSpc>
                <a:spcPts val="2527"/>
              </a:lnSpc>
            </a:pPr>
            <a:r>
              <a:rPr lang="en-US" sz="2298" b="1">
                <a:solidFill>
                  <a:srgbClr val="1D3163"/>
                </a:solidFill>
                <a:latin typeface="Quicksand Bold"/>
                <a:ea typeface="Quicksand Bold"/>
                <a:cs typeface="Quicksand Bold"/>
                <a:sym typeface="Quicksand Bold"/>
              </a:rPr>
              <a:t>The system actively tracks progress by displaying whether each task is Pending or Done. Students can easily mark tasks as completed, which instantly triggers the primary calculation: showing the total remaining hours for all unfinished tasks. This quantification helps students accurately estimate their time commitment and schedule work effectively.</a:t>
            </a:r>
          </a:p>
        </p:txBody>
      </p:sp>
      <p:sp>
        <p:nvSpPr>
          <p:cNvPr id="13" name="TextBox 13"/>
          <p:cNvSpPr txBox="1"/>
          <p:nvPr/>
        </p:nvSpPr>
        <p:spPr>
          <a:xfrm>
            <a:off x="10148438" y="2859820"/>
            <a:ext cx="6716917" cy="2534262"/>
          </a:xfrm>
          <a:prstGeom prst="rect">
            <a:avLst/>
          </a:prstGeom>
        </p:spPr>
        <p:txBody>
          <a:bodyPr lIns="0" tIns="0" rIns="0" bIns="0" rtlCol="0" anchor="t">
            <a:spAutoFit/>
          </a:bodyPr>
          <a:lstStyle/>
          <a:p>
            <a:pPr algn="l">
              <a:lnSpc>
                <a:spcPts val="2527"/>
              </a:lnSpc>
            </a:pPr>
            <a:r>
              <a:rPr lang="en-US" sz="2298" b="1">
                <a:solidFill>
                  <a:srgbClr val="1D3163"/>
                </a:solidFill>
                <a:latin typeface="Quicksand Bold"/>
                <a:ea typeface="Quicksand Bold"/>
                <a:cs typeface="Quicksand Bold"/>
                <a:sym typeface="Quicksand Bold"/>
              </a:rPr>
              <a:t>The program first captures a comprehensive inventory of the student's workload. It requires the entry of critical task details: Name, Due Date, Estimated Hours, and Priority (High, Medium, or Low). This data is then stored and displayed in a single, organized list, providing a complete and reliable view of all academic responsibilities.</a:t>
            </a:r>
          </a:p>
        </p:txBody>
      </p:sp>
      <p:sp>
        <p:nvSpPr>
          <p:cNvPr id="14" name="TextBox 14"/>
          <p:cNvSpPr txBox="1"/>
          <p:nvPr/>
        </p:nvSpPr>
        <p:spPr>
          <a:xfrm>
            <a:off x="10004052" y="5802148"/>
            <a:ext cx="3182829" cy="990600"/>
          </a:xfrm>
          <a:prstGeom prst="rect">
            <a:avLst/>
          </a:prstGeom>
        </p:spPr>
        <p:txBody>
          <a:bodyPr lIns="0" tIns="0" rIns="0" bIns="0" rtlCol="0" anchor="t">
            <a:spAutoFit/>
          </a:bodyPr>
          <a:lstStyle/>
          <a:p>
            <a:pPr algn="l">
              <a:lnSpc>
                <a:spcPts val="2517"/>
              </a:lnSpc>
            </a:pPr>
            <a:r>
              <a:rPr lang="en-US" sz="2098">
                <a:solidFill>
                  <a:srgbClr val="1D3163"/>
                </a:solidFill>
                <a:latin typeface="Bungee"/>
                <a:ea typeface="Bungee"/>
                <a:cs typeface="Bungee"/>
                <a:sym typeface="Bungee"/>
              </a:rPr>
              <a:t>Status Monitoring and Time Quantification</a:t>
            </a:r>
          </a:p>
        </p:txBody>
      </p:sp>
      <p:grpSp>
        <p:nvGrpSpPr>
          <p:cNvPr id="15" name="Group 15"/>
          <p:cNvGrpSpPr/>
          <p:nvPr/>
        </p:nvGrpSpPr>
        <p:grpSpPr>
          <a:xfrm>
            <a:off x="8717085" y="1647296"/>
            <a:ext cx="983295" cy="983295"/>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7" name="TextBox 17"/>
            <p:cNvSpPr txBox="1"/>
            <p:nvPr/>
          </p:nvSpPr>
          <p:spPr>
            <a:xfrm>
              <a:off x="76200" y="0"/>
              <a:ext cx="660400" cy="736600"/>
            </a:xfrm>
            <a:prstGeom prst="rect">
              <a:avLst/>
            </a:prstGeom>
          </p:spPr>
          <p:txBody>
            <a:bodyPr lIns="50800" tIns="50800" rIns="50800" bIns="50800" rtlCol="0" anchor="ctr"/>
            <a:lstStyle/>
            <a:p>
              <a:pPr algn="ctr">
                <a:lnSpc>
                  <a:spcPts val="2799"/>
                </a:lnSpc>
              </a:pPr>
              <a:r>
                <a:rPr lang="en-US" sz="1999">
                  <a:solidFill>
                    <a:srgbClr val="1D3163"/>
                  </a:solidFill>
                  <a:latin typeface="Bungee"/>
                  <a:ea typeface="Bungee"/>
                  <a:cs typeface="Bungee"/>
                  <a:sym typeface="Bungee"/>
                </a:rPr>
                <a:t>1</a:t>
              </a:r>
            </a:p>
          </p:txBody>
        </p:sp>
      </p:grpSp>
      <p:grpSp>
        <p:nvGrpSpPr>
          <p:cNvPr id="18" name="Group 18"/>
          <p:cNvGrpSpPr/>
          <p:nvPr/>
        </p:nvGrpSpPr>
        <p:grpSpPr>
          <a:xfrm>
            <a:off x="8717085" y="5849773"/>
            <a:ext cx="983295" cy="983295"/>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4A75"/>
            </a:solidFill>
          </p:spPr>
        </p:sp>
        <p:sp>
          <p:nvSpPr>
            <p:cNvPr id="20" name="TextBox 20"/>
            <p:cNvSpPr txBox="1"/>
            <p:nvPr/>
          </p:nvSpPr>
          <p:spPr>
            <a:xfrm>
              <a:off x="76200" y="0"/>
              <a:ext cx="660400" cy="736600"/>
            </a:xfrm>
            <a:prstGeom prst="rect">
              <a:avLst/>
            </a:prstGeom>
          </p:spPr>
          <p:txBody>
            <a:bodyPr lIns="50800" tIns="50800" rIns="50800" bIns="50800" rtlCol="0" anchor="ctr"/>
            <a:lstStyle/>
            <a:p>
              <a:pPr algn="ctr">
                <a:lnSpc>
                  <a:spcPts val="2799"/>
                </a:lnSpc>
              </a:pPr>
              <a:r>
                <a:rPr lang="en-US" sz="1999">
                  <a:solidFill>
                    <a:srgbClr val="FFFFFF"/>
                  </a:solidFill>
                  <a:latin typeface="Bungee"/>
                  <a:ea typeface="Bungee"/>
                  <a:cs typeface="Bungee"/>
                  <a:sym typeface="Bungee"/>
                </a:rPr>
                <a:t>2</a:t>
              </a: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991792"/>
            <a:ext cx="5086556" cy="7266508"/>
          </a:xfrm>
          <a:custGeom>
            <a:avLst/>
            <a:gdLst/>
            <a:ahLst/>
            <a:cxnLst/>
            <a:rect l="l" t="t" r="r" b="b"/>
            <a:pathLst>
              <a:path w="5086556" h="7266508">
                <a:moveTo>
                  <a:pt x="0" y="0"/>
                </a:moveTo>
                <a:lnTo>
                  <a:pt x="5086556" y="0"/>
                </a:lnTo>
                <a:lnTo>
                  <a:pt x="5086556" y="7266508"/>
                </a:lnTo>
                <a:lnTo>
                  <a:pt x="0" y="72665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5410210" y="3535564"/>
            <a:ext cx="13153049" cy="3941618"/>
          </a:xfrm>
          <a:custGeom>
            <a:avLst/>
            <a:gdLst/>
            <a:ahLst/>
            <a:cxnLst/>
            <a:rect l="l" t="t" r="r" b="b"/>
            <a:pathLst>
              <a:path w="13153049" h="3941618">
                <a:moveTo>
                  <a:pt x="0" y="0"/>
                </a:moveTo>
                <a:lnTo>
                  <a:pt x="13153050" y="0"/>
                </a:lnTo>
                <a:lnTo>
                  <a:pt x="13153050" y="3941618"/>
                </a:lnTo>
                <a:lnTo>
                  <a:pt x="0" y="3941618"/>
                </a:lnTo>
                <a:lnTo>
                  <a:pt x="0" y="0"/>
                </a:lnTo>
                <a:close/>
              </a:path>
            </a:pathLst>
          </a:custGeom>
          <a:blipFill>
            <a:blip r:embed="rId4"/>
            <a:stretch>
              <a:fillRect r="-10478"/>
            </a:stretch>
          </a:blipFill>
        </p:spPr>
      </p:sp>
      <p:sp>
        <p:nvSpPr>
          <p:cNvPr id="5" name="TextBox 5"/>
          <p:cNvSpPr txBox="1"/>
          <p:nvPr/>
        </p:nvSpPr>
        <p:spPr>
          <a:xfrm>
            <a:off x="7380077" y="1646688"/>
            <a:ext cx="9213315" cy="1152526"/>
          </a:xfrm>
          <a:prstGeom prst="rect">
            <a:avLst/>
          </a:prstGeom>
        </p:spPr>
        <p:txBody>
          <a:bodyPr lIns="0" tIns="0" rIns="0" bIns="0" rtlCol="0" anchor="t">
            <a:spAutoFit/>
          </a:bodyPr>
          <a:lstStyle/>
          <a:p>
            <a:pPr algn="l">
              <a:lnSpc>
                <a:spcPts val="7200"/>
              </a:lnSpc>
            </a:pPr>
            <a:r>
              <a:rPr lang="en-US" sz="8000" dirty="0">
                <a:solidFill>
                  <a:srgbClr val="1D3163"/>
                </a:solidFill>
                <a:latin typeface="Bungee"/>
                <a:ea typeface="Bungee"/>
                <a:cs typeface="Bungee"/>
                <a:sym typeface="Bungee"/>
              </a:rPr>
              <a:t>SAMPLE input</a:t>
            </a:r>
          </a:p>
        </p:txBody>
      </p:sp>
      <p:sp>
        <p:nvSpPr>
          <p:cNvPr id="6" name="TextBox 6"/>
          <p:cNvSpPr txBox="1"/>
          <p:nvPr/>
        </p:nvSpPr>
        <p:spPr>
          <a:xfrm>
            <a:off x="7380077" y="2868179"/>
            <a:ext cx="5542806" cy="495936"/>
          </a:xfrm>
          <a:prstGeom prst="rect">
            <a:avLst/>
          </a:prstGeom>
        </p:spPr>
        <p:txBody>
          <a:bodyPr lIns="0" tIns="0" rIns="0" bIns="0" rtlCol="0" anchor="t">
            <a:spAutoFit/>
          </a:bodyPr>
          <a:lstStyle/>
          <a:p>
            <a:pPr algn="ctr">
              <a:lnSpc>
                <a:spcPts val="3639"/>
              </a:lnSpc>
              <a:spcBef>
                <a:spcPct val="0"/>
              </a:spcBef>
            </a:pPr>
            <a:r>
              <a:rPr lang="en-US" sz="2599">
                <a:solidFill>
                  <a:srgbClr val="1D3163"/>
                </a:solidFill>
                <a:latin typeface="Bungee"/>
                <a:ea typeface="Bungee"/>
                <a:cs typeface="Bungee"/>
                <a:sym typeface="Bungee"/>
              </a:rPr>
              <a:t>Input: Task Details Entered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1991792"/>
            <a:ext cx="5086556" cy="7266508"/>
          </a:xfrm>
          <a:custGeom>
            <a:avLst/>
            <a:gdLst/>
            <a:ahLst/>
            <a:cxnLst/>
            <a:rect l="l" t="t" r="r" b="b"/>
            <a:pathLst>
              <a:path w="5086556" h="7266508">
                <a:moveTo>
                  <a:pt x="0" y="0"/>
                </a:moveTo>
                <a:lnTo>
                  <a:pt x="5086556" y="0"/>
                </a:lnTo>
                <a:lnTo>
                  <a:pt x="5086556" y="7266508"/>
                </a:lnTo>
                <a:lnTo>
                  <a:pt x="0" y="72665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380077" y="3780286"/>
            <a:ext cx="9589423" cy="2726429"/>
          </a:xfrm>
          <a:custGeom>
            <a:avLst/>
            <a:gdLst/>
            <a:ahLst/>
            <a:cxnLst/>
            <a:rect l="l" t="t" r="r" b="b"/>
            <a:pathLst>
              <a:path w="9589423" h="2726429">
                <a:moveTo>
                  <a:pt x="0" y="0"/>
                </a:moveTo>
                <a:lnTo>
                  <a:pt x="9589423" y="0"/>
                </a:lnTo>
                <a:lnTo>
                  <a:pt x="9589423" y="2726428"/>
                </a:lnTo>
                <a:lnTo>
                  <a:pt x="0" y="2726428"/>
                </a:lnTo>
                <a:lnTo>
                  <a:pt x="0" y="0"/>
                </a:lnTo>
                <a:close/>
              </a:path>
            </a:pathLst>
          </a:custGeom>
          <a:blipFill>
            <a:blip r:embed="rId4"/>
            <a:stretch>
              <a:fillRect r="-17851"/>
            </a:stretch>
          </a:blipFill>
        </p:spPr>
      </p:sp>
      <p:sp>
        <p:nvSpPr>
          <p:cNvPr id="5" name="TextBox 5"/>
          <p:cNvSpPr txBox="1"/>
          <p:nvPr/>
        </p:nvSpPr>
        <p:spPr>
          <a:xfrm>
            <a:off x="7380077" y="1646688"/>
            <a:ext cx="9213315" cy="1152526"/>
          </a:xfrm>
          <a:prstGeom prst="rect">
            <a:avLst/>
          </a:prstGeom>
        </p:spPr>
        <p:txBody>
          <a:bodyPr lIns="0" tIns="0" rIns="0" bIns="0" rtlCol="0" anchor="t">
            <a:spAutoFit/>
          </a:bodyPr>
          <a:lstStyle/>
          <a:p>
            <a:pPr algn="l">
              <a:lnSpc>
                <a:spcPts val="7200"/>
              </a:lnSpc>
            </a:pPr>
            <a:r>
              <a:rPr lang="en-US" sz="8000">
                <a:solidFill>
                  <a:srgbClr val="1D3163"/>
                </a:solidFill>
                <a:latin typeface="Bungee"/>
                <a:ea typeface="Bungee"/>
                <a:cs typeface="Bungee"/>
                <a:sym typeface="Bungee"/>
              </a:rPr>
              <a:t>SAMPLE input</a:t>
            </a:r>
          </a:p>
        </p:txBody>
      </p:sp>
      <p:sp>
        <p:nvSpPr>
          <p:cNvPr id="6" name="TextBox 6"/>
          <p:cNvSpPr txBox="1"/>
          <p:nvPr/>
        </p:nvSpPr>
        <p:spPr>
          <a:xfrm>
            <a:off x="7380077" y="2868179"/>
            <a:ext cx="4616648" cy="495936"/>
          </a:xfrm>
          <a:prstGeom prst="rect">
            <a:avLst/>
          </a:prstGeom>
        </p:spPr>
        <p:txBody>
          <a:bodyPr lIns="0" tIns="0" rIns="0" bIns="0" rtlCol="0" anchor="t">
            <a:spAutoFit/>
          </a:bodyPr>
          <a:lstStyle/>
          <a:p>
            <a:pPr algn="ctr">
              <a:lnSpc>
                <a:spcPts val="3639"/>
              </a:lnSpc>
              <a:spcBef>
                <a:spcPct val="0"/>
              </a:spcBef>
            </a:pPr>
            <a:r>
              <a:rPr lang="en-US" sz="2599">
                <a:solidFill>
                  <a:srgbClr val="1D3163"/>
                </a:solidFill>
                <a:latin typeface="Bungee"/>
                <a:ea typeface="Bungee"/>
                <a:cs typeface="Bungee"/>
                <a:sym typeface="Bungee"/>
              </a:rPr>
              <a:t>Output: Organized List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11152" y="1155467"/>
            <a:ext cx="16200609" cy="8720336"/>
          </a:xfrm>
          <a:prstGeom prst="rect">
            <a:avLst/>
          </a:prstGeom>
        </p:spPr>
        <p:txBody>
          <a:bodyPr wrap="square" lIns="0" tIns="0" rIns="0" bIns="0" rtlCol="0" anchor="t">
            <a:spAutoFit/>
          </a:bodyPr>
          <a:lstStyle/>
          <a:p>
            <a:pPr algn="ctr">
              <a:lnSpc>
                <a:spcPts val="3410"/>
              </a:lnSpc>
              <a:spcBef>
                <a:spcPct val="0"/>
              </a:spcBef>
            </a:pPr>
            <a:endParaRPr lang="en-US" sz="3600" dirty="0" smtClean="0">
              <a:solidFill>
                <a:srgbClr val="000000"/>
              </a:solidFill>
              <a:latin typeface="Quicksand"/>
              <a:ea typeface="Quicksand"/>
              <a:cs typeface="Quicksand"/>
              <a:sym typeface="Quicksand"/>
            </a:endParaRPr>
          </a:p>
          <a:p>
            <a:pPr algn="ctr">
              <a:lnSpc>
                <a:spcPts val="3410"/>
              </a:lnSpc>
              <a:spcBef>
                <a:spcPct val="0"/>
              </a:spcBef>
            </a:pPr>
            <a:r>
              <a:rPr lang="en-US" sz="3600" dirty="0" smtClean="0">
                <a:solidFill>
                  <a:srgbClr val="000000"/>
                </a:solidFill>
                <a:latin typeface="Quicksand"/>
                <a:ea typeface="Quicksand"/>
                <a:cs typeface="Quicksand"/>
                <a:sym typeface="Quicksand"/>
              </a:rPr>
              <a:t>CLASS </a:t>
            </a:r>
            <a:r>
              <a:rPr lang="en-US" sz="3600" dirty="0">
                <a:solidFill>
                  <a:srgbClr val="000000"/>
                </a:solidFill>
                <a:latin typeface="Quicksand"/>
                <a:ea typeface="Quicksand"/>
                <a:cs typeface="Quicksand"/>
                <a:sym typeface="Quicksand"/>
              </a:rPr>
              <a:t>LoginWindow:</a:t>
            </a:r>
          </a:p>
          <a:p>
            <a:pPr algn="ctr">
              <a:lnSpc>
                <a:spcPts val="3410"/>
              </a:lnSpc>
              <a:spcBef>
                <a:spcPct val="0"/>
              </a:spcBef>
            </a:pPr>
            <a:r>
              <a:rPr lang="en-US" sz="3600" dirty="0">
                <a:solidFill>
                  <a:srgbClr val="000000"/>
                </a:solidFill>
                <a:latin typeface="Quicksand"/>
                <a:ea typeface="Quicksand"/>
                <a:cs typeface="Quicksand"/>
                <a:sym typeface="Quicksand"/>
              </a:rPr>
              <a:t>    INITIALIZE:</a:t>
            </a:r>
          </a:p>
          <a:p>
            <a:pPr algn="ctr">
              <a:lnSpc>
                <a:spcPts val="3410"/>
              </a:lnSpc>
              <a:spcBef>
                <a:spcPct val="0"/>
              </a:spcBef>
            </a:pPr>
            <a:r>
              <a:rPr lang="en-US" sz="3600" dirty="0">
                <a:solidFill>
                  <a:srgbClr val="000000"/>
                </a:solidFill>
                <a:latin typeface="Quicksand"/>
                <a:ea typeface="Quicksand"/>
                <a:cs typeface="Quicksand"/>
                <a:sym typeface="Quicksand"/>
              </a:rPr>
              <a:t>        Load existing users from "users_db.json"</a:t>
            </a:r>
          </a:p>
          <a:p>
            <a:pPr algn="ctr">
              <a:lnSpc>
                <a:spcPts val="3410"/>
              </a:lnSpc>
              <a:spcBef>
                <a:spcPct val="0"/>
              </a:spcBef>
            </a:pPr>
            <a:r>
              <a:rPr lang="en-US" sz="3600" dirty="0">
                <a:solidFill>
                  <a:srgbClr val="000000"/>
                </a:solidFill>
                <a:latin typeface="Quicksand"/>
                <a:ea typeface="Quicksand"/>
                <a:cs typeface="Quicksand"/>
                <a:sym typeface="Quicksand"/>
              </a:rPr>
              <a:t>        Create a hidden main window and a visible Login Popup</a:t>
            </a:r>
          </a:p>
          <a:p>
            <a:pPr algn="ctr">
              <a:lnSpc>
                <a:spcPts val="3410"/>
              </a:lnSpc>
              <a:spcBef>
                <a:spcPct val="0"/>
              </a:spcBef>
            </a:pPr>
            <a:r>
              <a:rPr lang="en-US" sz="3600" dirty="0">
                <a:solidFill>
                  <a:srgbClr val="000000"/>
                </a:solidFill>
                <a:latin typeface="Quicksand"/>
                <a:ea typeface="Quicksand"/>
                <a:cs typeface="Quicksand"/>
                <a:sym typeface="Quicksand"/>
              </a:rPr>
              <a:t>        Setup UI: Account list (dropdown), Username entry, Password entry</a:t>
            </a:r>
          </a:p>
          <a:p>
            <a:pPr algn="ctr">
              <a:lnSpc>
                <a:spcPts val="3410"/>
              </a:lnSpc>
              <a:spcBef>
                <a:spcPct val="0"/>
              </a:spcBef>
            </a:pPr>
            <a:endParaRPr lang="en-US" sz="3600" dirty="0">
              <a:solidFill>
                <a:srgbClr val="000000"/>
              </a:solidFill>
              <a:latin typeface="Quicksand"/>
              <a:ea typeface="Quicksand"/>
              <a:cs typeface="Quicksand"/>
              <a:sym typeface="Quicksand"/>
            </a:endParaRPr>
          </a:p>
          <a:p>
            <a:pPr algn="ctr">
              <a:lnSpc>
                <a:spcPts val="3410"/>
              </a:lnSpc>
              <a:spcBef>
                <a:spcPct val="0"/>
              </a:spcBef>
            </a:pPr>
            <a:r>
              <a:rPr lang="en-US" sz="3600" dirty="0">
                <a:solidFill>
                  <a:srgbClr val="000000"/>
                </a:solidFill>
                <a:latin typeface="Quicksand"/>
                <a:ea typeface="Quicksand"/>
                <a:cs typeface="Quicksand"/>
                <a:sym typeface="Quicksand"/>
              </a:rPr>
              <a:t>    FUNCTION check_login:</a:t>
            </a:r>
          </a:p>
          <a:p>
            <a:pPr algn="ctr">
              <a:lnSpc>
                <a:spcPts val="3410"/>
              </a:lnSpc>
              <a:spcBef>
                <a:spcPct val="0"/>
              </a:spcBef>
            </a:pPr>
            <a:r>
              <a:rPr lang="en-US" sz="3600" dirty="0">
                <a:solidFill>
                  <a:srgbClr val="000000"/>
                </a:solidFill>
                <a:latin typeface="Quicksand"/>
                <a:ea typeface="Quicksand"/>
                <a:cs typeface="Quicksand"/>
                <a:sym typeface="Quicksand"/>
              </a:rPr>
              <a:t>        GET chosen user and typed password</a:t>
            </a:r>
          </a:p>
          <a:p>
            <a:pPr algn="ctr">
              <a:lnSpc>
                <a:spcPts val="3410"/>
              </a:lnSpc>
              <a:spcBef>
                <a:spcPct val="0"/>
              </a:spcBef>
            </a:pPr>
            <a:r>
              <a:rPr lang="en-US" sz="3600" dirty="0">
                <a:solidFill>
                  <a:srgbClr val="000000"/>
                </a:solidFill>
                <a:latin typeface="Quicksand"/>
                <a:ea typeface="Quicksand"/>
                <a:cs typeface="Quicksand"/>
                <a:sym typeface="Quicksand"/>
              </a:rPr>
              <a:t>        IF user exists AND password matches:</a:t>
            </a:r>
          </a:p>
          <a:p>
            <a:pPr algn="ctr">
              <a:lnSpc>
                <a:spcPts val="3410"/>
              </a:lnSpc>
              <a:spcBef>
                <a:spcPct val="0"/>
              </a:spcBef>
            </a:pPr>
            <a:r>
              <a:rPr lang="en-US" sz="3600" dirty="0">
                <a:solidFill>
                  <a:srgbClr val="000000"/>
                </a:solidFill>
                <a:latin typeface="Quicksand"/>
                <a:ea typeface="Quicksand"/>
                <a:cs typeface="Quicksand"/>
                <a:sym typeface="Quicksand"/>
              </a:rPr>
              <a:t>            Close Login Popup</a:t>
            </a:r>
          </a:p>
          <a:p>
            <a:pPr algn="ctr">
              <a:lnSpc>
                <a:spcPts val="3410"/>
              </a:lnSpc>
              <a:spcBef>
                <a:spcPct val="0"/>
              </a:spcBef>
            </a:pPr>
            <a:r>
              <a:rPr lang="en-US" sz="3600" dirty="0">
                <a:solidFill>
                  <a:srgbClr val="000000"/>
                </a:solidFill>
                <a:latin typeface="Quicksand"/>
                <a:ea typeface="Quicksand"/>
                <a:cs typeface="Quicksand"/>
                <a:sym typeface="Quicksand"/>
              </a:rPr>
              <a:t>            Open Dashboard for that user</a:t>
            </a:r>
          </a:p>
          <a:p>
            <a:pPr algn="ctr">
              <a:lnSpc>
                <a:spcPts val="3410"/>
              </a:lnSpc>
              <a:spcBef>
                <a:spcPct val="0"/>
              </a:spcBef>
            </a:pPr>
            <a:r>
              <a:rPr lang="en-US" sz="3600" dirty="0">
                <a:solidFill>
                  <a:srgbClr val="000000"/>
                </a:solidFill>
                <a:latin typeface="Quicksand"/>
                <a:ea typeface="Quicksand"/>
                <a:cs typeface="Quicksand"/>
                <a:sym typeface="Quicksand"/>
              </a:rPr>
              <a:t>        ELSE:</a:t>
            </a:r>
          </a:p>
          <a:p>
            <a:pPr algn="ctr">
              <a:lnSpc>
                <a:spcPts val="3410"/>
              </a:lnSpc>
              <a:spcBef>
                <a:spcPct val="0"/>
              </a:spcBef>
            </a:pPr>
            <a:r>
              <a:rPr lang="en-US" sz="3600" dirty="0">
                <a:solidFill>
                  <a:srgbClr val="000000"/>
                </a:solidFill>
                <a:latin typeface="Quicksand"/>
                <a:ea typeface="Quicksand"/>
                <a:cs typeface="Quicksand"/>
                <a:sym typeface="Quicksand"/>
              </a:rPr>
              <a:t>            Show "Access Denied" error</a:t>
            </a:r>
          </a:p>
          <a:p>
            <a:pPr algn="ctr">
              <a:lnSpc>
                <a:spcPts val="3410"/>
              </a:lnSpc>
              <a:spcBef>
                <a:spcPct val="0"/>
              </a:spcBef>
            </a:pPr>
            <a:endParaRPr lang="en-US" sz="3600" dirty="0">
              <a:solidFill>
                <a:srgbClr val="000000"/>
              </a:solidFill>
              <a:latin typeface="Quicksand"/>
              <a:ea typeface="Quicksand"/>
              <a:cs typeface="Quicksand"/>
              <a:sym typeface="Quicksand"/>
            </a:endParaRPr>
          </a:p>
          <a:p>
            <a:pPr algn="ctr">
              <a:lnSpc>
                <a:spcPts val="3410"/>
              </a:lnSpc>
              <a:spcBef>
                <a:spcPct val="0"/>
              </a:spcBef>
            </a:pPr>
            <a:r>
              <a:rPr lang="en-US" sz="3600" dirty="0">
                <a:solidFill>
                  <a:srgbClr val="000000"/>
                </a:solidFill>
                <a:latin typeface="Quicksand"/>
                <a:ea typeface="Quicksand"/>
                <a:cs typeface="Quicksand"/>
                <a:sym typeface="Quicksand"/>
              </a:rPr>
              <a:t>    FUNCTION register_user:</a:t>
            </a:r>
          </a:p>
          <a:p>
            <a:pPr algn="ctr">
              <a:lnSpc>
                <a:spcPts val="3410"/>
              </a:lnSpc>
              <a:spcBef>
                <a:spcPct val="0"/>
              </a:spcBef>
            </a:pPr>
            <a:r>
              <a:rPr lang="en-US" sz="3600" dirty="0">
                <a:solidFill>
                  <a:srgbClr val="000000"/>
                </a:solidFill>
                <a:latin typeface="Quicksand"/>
                <a:ea typeface="Quicksand"/>
                <a:cs typeface="Quicksand"/>
                <a:sym typeface="Quicksand"/>
              </a:rPr>
              <a:t>        GET new username and password</a:t>
            </a:r>
          </a:p>
          <a:p>
            <a:pPr algn="ctr">
              <a:lnSpc>
                <a:spcPts val="3410"/>
              </a:lnSpc>
              <a:spcBef>
                <a:spcPct val="0"/>
              </a:spcBef>
            </a:pPr>
            <a:r>
              <a:rPr lang="en-US" sz="3600" dirty="0">
                <a:solidFill>
                  <a:srgbClr val="000000"/>
                </a:solidFill>
                <a:latin typeface="Quicksand"/>
                <a:ea typeface="Quicksand"/>
                <a:cs typeface="Quicksand"/>
                <a:sym typeface="Quicksand"/>
              </a:rPr>
              <a:t>        IF fields are empty OR user already exists:</a:t>
            </a:r>
          </a:p>
          <a:p>
            <a:pPr algn="ctr">
              <a:lnSpc>
                <a:spcPts val="3410"/>
              </a:lnSpc>
              <a:spcBef>
                <a:spcPct val="0"/>
              </a:spcBef>
            </a:pPr>
            <a:r>
              <a:rPr lang="en-US" sz="3600" dirty="0">
                <a:solidFill>
                  <a:srgbClr val="000000"/>
                </a:solidFill>
                <a:latin typeface="Quicksand"/>
                <a:ea typeface="Quicksand"/>
                <a:cs typeface="Quicksand"/>
                <a:sym typeface="Quicksand"/>
              </a:rPr>
              <a:t>            Show error message</a:t>
            </a:r>
          </a:p>
          <a:p>
            <a:pPr algn="ctr">
              <a:lnSpc>
                <a:spcPts val="3410"/>
              </a:lnSpc>
              <a:spcBef>
                <a:spcPct val="0"/>
              </a:spcBef>
            </a:pPr>
            <a:r>
              <a:rPr lang="en-US" sz="3600" dirty="0">
                <a:solidFill>
                  <a:srgbClr val="000000"/>
                </a:solidFill>
                <a:latin typeface="Quicksand"/>
                <a:ea typeface="Quicksand"/>
                <a:cs typeface="Quicksand"/>
                <a:sym typeface="Quicksand"/>
              </a:rPr>
              <a:t>        </a:t>
            </a:r>
          </a:p>
        </p:txBody>
      </p:sp>
      <p:sp>
        <p:nvSpPr>
          <p:cNvPr id="3" name="TextBox 3"/>
          <p:cNvSpPr txBox="1"/>
          <p:nvPr/>
        </p:nvSpPr>
        <p:spPr>
          <a:xfrm>
            <a:off x="5581014" y="629681"/>
            <a:ext cx="6908677" cy="525785"/>
          </a:xfrm>
          <a:prstGeom prst="rect">
            <a:avLst/>
          </a:prstGeom>
        </p:spPr>
        <p:txBody>
          <a:bodyPr wrap="square" lIns="0" tIns="0" rIns="0" bIns="0" rtlCol="0" anchor="t">
            <a:spAutoFit/>
          </a:bodyPr>
          <a:lstStyle/>
          <a:p>
            <a:pPr algn="ctr">
              <a:lnSpc>
                <a:spcPts val="4059"/>
              </a:lnSpc>
              <a:spcBef>
                <a:spcPct val="0"/>
              </a:spcBef>
            </a:pPr>
            <a:r>
              <a:rPr lang="en-US" sz="2899" dirty="0">
                <a:solidFill>
                  <a:srgbClr val="004AAD"/>
                </a:solidFill>
                <a:latin typeface="Bungee"/>
                <a:ea typeface="Bungee"/>
                <a:cs typeface="Bungee"/>
                <a:sym typeface="Bungee"/>
              </a:rPr>
              <a:t>Process Flow (in Pseudocode)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5048" y="1327076"/>
            <a:ext cx="16200609" cy="4361963"/>
          </a:xfrm>
          <a:prstGeom prst="rect">
            <a:avLst/>
          </a:prstGeom>
        </p:spPr>
        <p:txBody>
          <a:bodyPr wrap="square" lIns="0" tIns="0" rIns="0" bIns="0" rtlCol="0" anchor="t">
            <a:spAutoFit/>
          </a:bodyPr>
          <a:lstStyle/>
          <a:p>
            <a:pPr algn="ctr">
              <a:lnSpc>
                <a:spcPts val="3410"/>
              </a:lnSpc>
              <a:spcBef>
                <a:spcPct val="0"/>
              </a:spcBef>
            </a:pPr>
            <a:r>
              <a:rPr lang="en-US" sz="3600" dirty="0">
                <a:solidFill>
                  <a:srgbClr val="000000"/>
                </a:solidFill>
                <a:latin typeface="Quicksand"/>
                <a:ea typeface="Quicksand"/>
                <a:cs typeface="Quicksand"/>
                <a:sym typeface="Quicksand"/>
              </a:rPr>
              <a:t>ELSE:</a:t>
            </a:r>
          </a:p>
          <a:p>
            <a:pPr algn="ctr">
              <a:lnSpc>
                <a:spcPts val="3410"/>
              </a:lnSpc>
              <a:spcBef>
                <a:spcPct val="0"/>
              </a:spcBef>
            </a:pPr>
            <a:r>
              <a:rPr lang="en-US" sz="3600" dirty="0">
                <a:solidFill>
                  <a:srgbClr val="000000"/>
                </a:solidFill>
                <a:latin typeface="Quicksand"/>
                <a:ea typeface="Quicksand"/>
                <a:cs typeface="Quicksand"/>
                <a:sym typeface="Quicksand"/>
              </a:rPr>
              <a:t>            ADD user to database</a:t>
            </a:r>
          </a:p>
          <a:p>
            <a:pPr algn="ctr">
              <a:lnSpc>
                <a:spcPts val="3410"/>
              </a:lnSpc>
              <a:spcBef>
                <a:spcPct val="0"/>
              </a:spcBef>
            </a:pPr>
            <a:r>
              <a:rPr lang="en-US" sz="3600" dirty="0">
                <a:solidFill>
                  <a:srgbClr val="000000"/>
                </a:solidFill>
                <a:latin typeface="Quicksand"/>
                <a:ea typeface="Quicksand"/>
                <a:cs typeface="Quicksand"/>
                <a:sym typeface="Quicksand"/>
              </a:rPr>
              <a:t>            SAVE to "users_db.json"</a:t>
            </a:r>
          </a:p>
          <a:p>
            <a:pPr algn="ctr">
              <a:lnSpc>
                <a:spcPts val="3410"/>
              </a:lnSpc>
              <a:spcBef>
                <a:spcPct val="0"/>
              </a:spcBef>
            </a:pPr>
            <a:r>
              <a:rPr lang="en-US" sz="3600" dirty="0">
                <a:solidFill>
                  <a:srgbClr val="000000"/>
                </a:solidFill>
                <a:latin typeface="Quicksand"/>
                <a:ea typeface="Quicksand"/>
                <a:cs typeface="Quicksand"/>
                <a:sym typeface="Quicksand"/>
              </a:rPr>
              <a:t>            Show "Success" message</a:t>
            </a:r>
          </a:p>
          <a:p>
            <a:pPr algn="ctr">
              <a:lnSpc>
                <a:spcPts val="3410"/>
              </a:lnSpc>
              <a:spcBef>
                <a:spcPct val="0"/>
              </a:spcBef>
            </a:pPr>
            <a:endParaRPr lang="en-US" sz="3600" dirty="0">
              <a:solidFill>
                <a:srgbClr val="000000"/>
              </a:solidFill>
              <a:latin typeface="Quicksand"/>
              <a:ea typeface="Quicksand"/>
              <a:cs typeface="Quicksand"/>
              <a:sym typeface="Quicksand"/>
            </a:endParaRPr>
          </a:p>
          <a:p>
            <a:pPr algn="ctr">
              <a:lnSpc>
                <a:spcPts val="3410"/>
              </a:lnSpc>
              <a:spcBef>
                <a:spcPct val="0"/>
              </a:spcBef>
            </a:pPr>
            <a:r>
              <a:rPr lang="en-US" sz="3600" dirty="0">
                <a:solidFill>
                  <a:srgbClr val="000000"/>
                </a:solidFill>
                <a:latin typeface="Quicksand"/>
                <a:ea typeface="Quicksand"/>
                <a:cs typeface="Quicksand"/>
                <a:sym typeface="Quicksand"/>
              </a:rPr>
              <a:t>    FUNCTION factory_reset:</a:t>
            </a:r>
          </a:p>
          <a:p>
            <a:pPr algn="ctr">
              <a:lnSpc>
                <a:spcPts val="3410"/>
              </a:lnSpc>
              <a:spcBef>
                <a:spcPct val="0"/>
              </a:spcBef>
            </a:pPr>
            <a:r>
              <a:rPr lang="en-US" sz="3600" dirty="0">
                <a:solidFill>
                  <a:srgbClr val="000000"/>
                </a:solidFill>
                <a:latin typeface="Quicksand"/>
                <a:ea typeface="Quicksand"/>
                <a:cs typeface="Quicksand"/>
                <a:sym typeface="Quicksand"/>
              </a:rPr>
              <a:t>        IF user confirms:</a:t>
            </a:r>
          </a:p>
          <a:p>
            <a:pPr algn="ctr">
              <a:lnSpc>
                <a:spcPts val="3410"/>
              </a:lnSpc>
              <a:spcBef>
                <a:spcPct val="0"/>
              </a:spcBef>
            </a:pPr>
            <a:r>
              <a:rPr lang="en-US" sz="3600" dirty="0">
                <a:solidFill>
                  <a:srgbClr val="000000"/>
                </a:solidFill>
                <a:latin typeface="Quicksand"/>
                <a:ea typeface="Quicksand"/>
                <a:cs typeface="Quicksand"/>
                <a:sym typeface="Quicksand"/>
              </a:rPr>
              <a:t>            DELETE the user database file</a:t>
            </a:r>
          </a:p>
          <a:p>
            <a:pPr algn="ctr">
              <a:lnSpc>
                <a:spcPts val="3410"/>
              </a:lnSpc>
              <a:spcBef>
                <a:spcPct val="0"/>
              </a:spcBef>
            </a:pPr>
            <a:r>
              <a:rPr lang="en-US" sz="3600" dirty="0">
                <a:solidFill>
                  <a:srgbClr val="000000"/>
                </a:solidFill>
                <a:latin typeface="Quicksand"/>
                <a:ea typeface="Quicksand"/>
                <a:cs typeface="Quicksand"/>
                <a:sym typeface="Quicksand"/>
              </a:rPr>
              <a:t>            CLEAR the local user list</a:t>
            </a:r>
          </a:p>
          <a:p>
            <a:pPr algn="ctr">
              <a:lnSpc>
                <a:spcPts val="3410"/>
              </a:lnSpc>
              <a:spcBef>
                <a:spcPct val="0"/>
              </a:spcBef>
            </a:pPr>
            <a:r>
              <a:rPr lang="en-US" sz="3600" dirty="0" smtClean="0">
                <a:solidFill>
                  <a:srgbClr val="000000"/>
                </a:solidFill>
                <a:latin typeface="Quicksand"/>
                <a:ea typeface="Quicksand"/>
                <a:cs typeface="Quicksand"/>
                <a:sym typeface="Quicksand"/>
              </a:rPr>
              <a:t>        </a:t>
            </a:r>
            <a:endParaRPr lang="en-US" sz="3600" dirty="0">
              <a:solidFill>
                <a:srgbClr val="000000"/>
              </a:solidFill>
              <a:latin typeface="Quicksand"/>
              <a:ea typeface="Quicksand"/>
              <a:cs typeface="Quicksand"/>
              <a:sym typeface="Quicksand"/>
            </a:endParaRPr>
          </a:p>
        </p:txBody>
      </p:sp>
      <p:sp>
        <p:nvSpPr>
          <p:cNvPr id="3" name="TextBox 3"/>
          <p:cNvSpPr txBox="1"/>
          <p:nvPr/>
        </p:nvSpPr>
        <p:spPr>
          <a:xfrm>
            <a:off x="5581014" y="629681"/>
            <a:ext cx="6908677" cy="525785"/>
          </a:xfrm>
          <a:prstGeom prst="rect">
            <a:avLst/>
          </a:prstGeom>
        </p:spPr>
        <p:txBody>
          <a:bodyPr wrap="square" lIns="0" tIns="0" rIns="0" bIns="0" rtlCol="0" anchor="t">
            <a:spAutoFit/>
          </a:bodyPr>
          <a:lstStyle/>
          <a:p>
            <a:pPr algn="ctr">
              <a:lnSpc>
                <a:spcPts val="4059"/>
              </a:lnSpc>
              <a:spcBef>
                <a:spcPct val="0"/>
              </a:spcBef>
            </a:pPr>
            <a:r>
              <a:rPr lang="en-US" sz="2899" dirty="0">
                <a:solidFill>
                  <a:srgbClr val="004AAD"/>
                </a:solidFill>
                <a:latin typeface="Bungee"/>
                <a:ea typeface="Bungee"/>
                <a:cs typeface="Bungee"/>
                <a:sym typeface="Bungee"/>
              </a:rPr>
              <a:t>Process Flow (in Pseudocode)</a:t>
            </a:r>
          </a:p>
        </p:txBody>
      </p:sp>
    </p:spTree>
    <p:extLst>
      <p:ext uri="{BB962C8B-B14F-4D97-AF65-F5344CB8AC3E}">
        <p14:creationId xmlns:p14="http://schemas.microsoft.com/office/powerpoint/2010/main" val="2013253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14600" y="647700"/>
            <a:ext cx="12115799" cy="10002738"/>
          </a:xfrm>
          <a:prstGeom prst="rect">
            <a:avLst/>
          </a:prstGeom>
        </p:spPr>
        <p:txBody>
          <a:bodyPr wrap="square" lIns="0" tIns="0" rIns="0" bIns="0" rtlCol="0" anchor="t">
            <a:spAutoFit/>
          </a:bodyPr>
          <a:lstStyle/>
          <a:p>
            <a:pPr algn="ctr">
              <a:lnSpc>
                <a:spcPts val="3893"/>
              </a:lnSpc>
            </a:pPr>
            <a:r>
              <a:rPr lang="en-US" sz="2800" dirty="0">
                <a:solidFill>
                  <a:srgbClr val="004AAD"/>
                </a:solidFill>
                <a:latin typeface="Bungee"/>
                <a:ea typeface="Bungee"/>
                <a:cs typeface="Bungee"/>
                <a:sym typeface="Bungee"/>
              </a:rPr>
              <a:t>Process Flow (in Pseudocode)</a:t>
            </a:r>
          </a:p>
          <a:p>
            <a:pPr algn="ctr">
              <a:lnSpc>
                <a:spcPts val="3893"/>
              </a:lnSpc>
            </a:pPr>
            <a:r>
              <a:rPr lang="en-US" sz="2800" dirty="0" smtClean="0">
                <a:latin typeface="Quicksand" panose="020B0604020202020204" charset="0"/>
              </a:rPr>
              <a:t>CLASS </a:t>
            </a:r>
            <a:r>
              <a:rPr lang="en-US" sz="2800" dirty="0">
                <a:latin typeface="Quicksand" panose="020B0604020202020204" charset="0"/>
              </a:rPr>
              <a:t>TimeManagerGUI:</a:t>
            </a:r>
          </a:p>
          <a:p>
            <a:pPr algn="ctr">
              <a:lnSpc>
                <a:spcPts val="3893"/>
              </a:lnSpc>
            </a:pPr>
            <a:r>
              <a:rPr lang="en-US" sz="2800" dirty="0">
                <a:latin typeface="Quicksand" panose="020B0604020202020204" charset="0"/>
              </a:rPr>
              <a:t>    INITIALIZE:</a:t>
            </a:r>
          </a:p>
          <a:p>
            <a:pPr algn="ctr">
              <a:lnSpc>
                <a:spcPts val="3893"/>
              </a:lnSpc>
            </a:pPr>
            <a:r>
              <a:rPr lang="en-US" sz="2800" dirty="0">
                <a:latin typeface="Quicksand" panose="020B0604020202020204" charset="0"/>
              </a:rPr>
              <a:t>        LOAD user-specific tasks from "[username]_tasks.json"</a:t>
            </a:r>
          </a:p>
          <a:p>
            <a:pPr algn="ctr">
              <a:lnSpc>
                <a:spcPts val="3893"/>
              </a:lnSpc>
            </a:pPr>
            <a:r>
              <a:rPr lang="en-US" sz="2800" dirty="0">
                <a:latin typeface="Quicksand" panose="020B0604020202020204" charset="0"/>
              </a:rPr>
              <a:t>        SETUP SIDEBAR: Input fields for Task Name, Hours, and Priority</a:t>
            </a:r>
          </a:p>
          <a:p>
            <a:pPr algn="ctr">
              <a:lnSpc>
                <a:spcPts val="3893"/>
              </a:lnSpc>
            </a:pPr>
            <a:r>
              <a:rPr lang="en-US" sz="2800" dirty="0">
                <a:latin typeface="Quicksand" panose="020B0604020202020204" charset="0"/>
              </a:rPr>
              <a:t>        SETUP MAIN AREA: A table (Treeview) to display tasks and a Search bar</a:t>
            </a:r>
          </a:p>
          <a:p>
            <a:pPr algn="ctr">
              <a:lnSpc>
                <a:spcPts val="3893"/>
              </a:lnSpc>
            </a:pPr>
            <a:endParaRPr lang="en-US" sz="2800" dirty="0">
              <a:latin typeface="Quicksand" panose="020B0604020202020204" charset="0"/>
            </a:endParaRPr>
          </a:p>
          <a:p>
            <a:pPr algn="ctr">
              <a:lnSpc>
                <a:spcPts val="3893"/>
              </a:lnSpc>
            </a:pPr>
            <a:r>
              <a:rPr lang="en-US" sz="2800" dirty="0">
                <a:latin typeface="Quicksand" panose="020B0604020202020204" charset="0"/>
              </a:rPr>
              <a:t>    FUNCTION add_task:</a:t>
            </a:r>
          </a:p>
          <a:p>
            <a:pPr algn="ctr">
              <a:lnSpc>
                <a:spcPts val="3893"/>
              </a:lnSpc>
            </a:pPr>
            <a:r>
              <a:rPr lang="en-US" sz="2800" dirty="0">
                <a:latin typeface="Quicksand" panose="020B0604020202020204" charset="0"/>
              </a:rPr>
              <a:t>        GET name, hours, and priority from sidebar</a:t>
            </a:r>
          </a:p>
          <a:p>
            <a:pPr algn="ctr">
              <a:lnSpc>
                <a:spcPts val="3893"/>
              </a:lnSpc>
            </a:pPr>
            <a:r>
              <a:rPr lang="en-US" sz="2800" dirty="0">
                <a:latin typeface="Quicksand" panose="020B0604020202020204" charset="0"/>
              </a:rPr>
              <a:t>        VALIDATE that hours is a number</a:t>
            </a:r>
          </a:p>
          <a:p>
            <a:pPr algn="ctr">
              <a:lnSpc>
                <a:spcPts val="3893"/>
              </a:lnSpc>
            </a:pPr>
            <a:r>
              <a:rPr lang="en-US" sz="2800" dirty="0">
                <a:latin typeface="Quicksand" panose="020B0604020202020204" charset="0"/>
              </a:rPr>
              <a:t>        CREATE new task object (default status: Pending)</a:t>
            </a:r>
          </a:p>
          <a:p>
            <a:pPr algn="ctr">
              <a:lnSpc>
                <a:spcPts val="3893"/>
              </a:lnSpc>
            </a:pPr>
            <a:r>
              <a:rPr lang="en-US" sz="2800" dirty="0">
                <a:latin typeface="Quicksand" panose="020B0604020202020204" charset="0"/>
              </a:rPr>
              <a:t>        ADD to task list, SAVE to file, and REFRESH the table</a:t>
            </a:r>
          </a:p>
          <a:p>
            <a:pPr algn="ctr">
              <a:lnSpc>
                <a:spcPts val="3893"/>
              </a:lnSpc>
            </a:pPr>
            <a:endParaRPr lang="en-US" sz="2800" dirty="0">
              <a:latin typeface="Quicksand" panose="020B0604020202020204" charset="0"/>
            </a:endParaRPr>
          </a:p>
          <a:p>
            <a:pPr algn="ctr">
              <a:lnSpc>
                <a:spcPts val="3893"/>
              </a:lnSpc>
            </a:pPr>
            <a:r>
              <a:rPr lang="en-US" sz="2800" dirty="0">
                <a:latin typeface="Quicksand" panose="020B0604020202020204" charset="0"/>
              </a:rPr>
              <a:t>    FUNCTION update_list (The Display Engine):</a:t>
            </a:r>
          </a:p>
          <a:p>
            <a:pPr algn="ctr">
              <a:lnSpc>
                <a:spcPts val="3893"/>
              </a:lnSpc>
            </a:pPr>
            <a:r>
              <a:rPr lang="en-US" sz="2800" dirty="0">
                <a:latin typeface="Quicksand" panose="020B0604020202020204" charset="0"/>
              </a:rPr>
              <a:t>        CLEAR the current table display</a:t>
            </a:r>
          </a:p>
          <a:p>
            <a:pPr algn="ctr">
              <a:lnSpc>
                <a:spcPts val="3893"/>
              </a:lnSpc>
            </a:pPr>
            <a:r>
              <a:rPr lang="en-US" sz="2800" dirty="0">
                <a:latin typeface="Quicksand" panose="020B0604020202020204" charset="0"/>
              </a:rPr>
              <a:t>        GET search term from search bar</a:t>
            </a:r>
          </a:p>
          <a:p>
            <a:pPr algn="ctr">
              <a:lnSpc>
                <a:spcPts val="3893"/>
              </a:lnSpc>
            </a:pPr>
            <a:r>
              <a:rPr lang="en-US" sz="2800" dirty="0">
                <a:latin typeface="Quicksand" panose="020B0604020202020204" charset="0"/>
              </a:rPr>
              <a:t>        FILTER tasks based on the search term</a:t>
            </a:r>
          </a:p>
          <a:p>
            <a:pPr algn="ctr">
              <a:lnSpc>
                <a:spcPts val="3893"/>
              </a:lnSpc>
            </a:pPr>
            <a:r>
              <a:rPr lang="en-US" sz="2800" dirty="0">
                <a:latin typeface="Quicksand" panose="020B0604020202020204" charset="0"/>
              </a:rPr>
              <a:t>        SORT tasks (Pending tasks first, then by High -&gt; Low priority)</a:t>
            </a:r>
          </a:p>
          <a:p>
            <a:pPr algn="ctr">
              <a:lnSpc>
                <a:spcPts val="3893"/>
              </a:lnSpc>
            </a:pPr>
            <a:r>
              <a:rPr lang="en-US" sz="1400" dirty="0">
                <a:latin typeface="Quicksand" panose="020B0604020202020204" charset="0"/>
              </a:rPr>
              <a:t>        </a:t>
            </a:r>
            <a:endParaRPr lang="en-US" sz="2000" dirty="0">
              <a:solidFill>
                <a:srgbClr val="000000"/>
              </a:solidFill>
              <a:latin typeface="Quicksand" panose="020B0604020202020204" charset="0"/>
              <a:ea typeface="Quicksand"/>
              <a:cs typeface="Quicksand"/>
              <a:sym typeface="Quicksand"/>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14600" y="647700"/>
            <a:ext cx="12115799" cy="9002464"/>
          </a:xfrm>
          <a:prstGeom prst="rect">
            <a:avLst/>
          </a:prstGeom>
        </p:spPr>
        <p:txBody>
          <a:bodyPr wrap="square" lIns="0" tIns="0" rIns="0" bIns="0" rtlCol="0" anchor="t">
            <a:spAutoFit/>
          </a:bodyPr>
          <a:lstStyle/>
          <a:p>
            <a:pPr algn="ctr">
              <a:lnSpc>
                <a:spcPts val="3893"/>
              </a:lnSpc>
            </a:pPr>
            <a:r>
              <a:rPr lang="en-US" sz="3600" dirty="0">
                <a:solidFill>
                  <a:srgbClr val="004AAD"/>
                </a:solidFill>
                <a:latin typeface="Bungee"/>
                <a:ea typeface="Bungee"/>
                <a:cs typeface="Bungee"/>
                <a:sym typeface="Bungee"/>
              </a:rPr>
              <a:t>Process Flow (in Pseudocode)</a:t>
            </a:r>
          </a:p>
          <a:p>
            <a:pPr algn="ctr">
              <a:lnSpc>
                <a:spcPts val="3893"/>
              </a:lnSpc>
            </a:pPr>
            <a:r>
              <a:rPr lang="en-US" sz="3600" dirty="0" smtClean="0">
                <a:latin typeface="Quicksand" panose="020B0604020202020204" charset="0"/>
              </a:rPr>
              <a:t>FOR </a:t>
            </a:r>
            <a:r>
              <a:rPr lang="en-US" sz="3600" dirty="0">
                <a:latin typeface="Quicksand" panose="020B0604020202020204" charset="0"/>
              </a:rPr>
              <a:t>each task:</a:t>
            </a:r>
          </a:p>
          <a:p>
            <a:pPr algn="ctr">
              <a:lnSpc>
                <a:spcPts val="3893"/>
              </a:lnSpc>
            </a:pPr>
            <a:r>
              <a:rPr lang="en-US" sz="3600" dirty="0">
                <a:latin typeface="Quicksand" panose="020B0604020202020204" charset="0"/>
              </a:rPr>
              <a:t>            IF completed: display "✅ COMPLETED"</a:t>
            </a:r>
          </a:p>
          <a:p>
            <a:pPr algn="ctr">
              <a:lnSpc>
                <a:spcPts val="3893"/>
              </a:lnSpc>
            </a:pPr>
            <a:r>
              <a:rPr lang="en-US" sz="3600" dirty="0">
                <a:latin typeface="Quicksand" panose="020B0604020202020204" charset="0"/>
              </a:rPr>
              <a:t>            ELSE: display "⌛ PENDING"</a:t>
            </a:r>
          </a:p>
          <a:p>
            <a:pPr algn="ctr">
              <a:lnSpc>
                <a:spcPts val="3893"/>
              </a:lnSpc>
            </a:pPr>
            <a:r>
              <a:rPr lang="en-US" sz="3600" dirty="0">
                <a:latin typeface="Quicksand" panose="020B0604020202020204" charset="0"/>
              </a:rPr>
              <a:t>            INSERT row into the table</a:t>
            </a:r>
          </a:p>
          <a:p>
            <a:pPr algn="ctr">
              <a:lnSpc>
                <a:spcPts val="3893"/>
              </a:lnSpc>
            </a:pPr>
            <a:endParaRPr lang="en-US" sz="3600" dirty="0">
              <a:latin typeface="Quicksand" panose="020B0604020202020204" charset="0"/>
            </a:endParaRPr>
          </a:p>
          <a:p>
            <a:pPr algn="ctr">
              <a:lnSpc>
                <a:spcPts val="3893"/>
              </a:lnSpc>
            </a:pPr>
            <a:r>
              <a:rPr lang="en-US" sz="3600" dirty="0">
                <a:latin typeface="Quicksand" panose="020B0604020202020204" charset="0"/>
              </a:rPr>
              <a:t>    FUNCTION mark_complete:</a:t>
            </a:r>
          </a:p>
          <a:p>
            <a:pPr algn="ctr">
              <a:lnSpc>
                <a:spcPts val="3893"/>
              </a:lnSpc>
            </a:pPr>
            <a:r>
              <a:rPr lang="en-US" sz="3600" dirty="0">
                <a:latin typeface="Quicksand" panose="020B0604020202020204" charset="0"/>
              </a:rPr>
              <a:t>        GET all selected rows from the table</a:t>
            </a:r>
          </a:p>
          <a:p>
            <a:pPr algn="ctr">
              <a:lnSpc>
                <a:spcPts val="3893"/>
              </a:lnSpc>
            </a:pPr>
            <a:r>
              <a:rPr lang="en-US" sz="3600" dirty="0">
                <a:latin typeface="Quicksand" panose="020B0604020202020204" charset="0"/>
              </a:rPr>
              <a:t>        FOR each selected row:</a:t>
            </a:r>
          </a:p>
          <a:p>
            <a:pPr algn="ctr">
              <a:lnSpc>
                <a:spcPts val="3893"/>
              </a:lnSpc>
            </a:pPr>
            <a:r>
              <a:rPr lang="en-US" sz="3600" dirty="0">
                <a:latin typeface="Quicksand" panose="020B0604020202020204" charset="0"/>
              </a:rPr>
              <a:t>            FIND matching task in the list and set "completed" to True</a:t>
            </a:r>
          </a:p>
          <a:p>
            <a:pPr algn="ctr">
              <a:lnSpc>
                <a:spcPts val="3893"/>
              </a:lnSpc>
            </a:pPr>
            <a:r>
              <a:rPr lang="en-US" sz="3600" dirty="0">
                <a:latin typeface="Quicksand" panose="020B0604020202020204" charset="0"/>
              </a:rPr>
              <a:t>        SAVE and REFRESH table</a:t>
            </a:r>
          </a:p>
          <a:p>
            <a:pPr algn="ctr">
              <a:lnSpc>
                <a:spcPts val="3893"/>
              </a:lnSpc>
            </a:pPr>
            <a:endParaRPr lang="en-US" sz="3600" dirty="0">
              <a:latin typeface="Quicksand" panose="020B0604020202020204" charset="0"/>
            </a:endParaRPr>
          </a:p>
          <a:p>
            <a:pPr algn="ctr">
              <a:lnSpc>
                <a:spcPts val="3893"/>
              </a:lnSpc>
            </a:pPr>
            <a:r>
              <a:rPr lang="en-US" sz="3600" dirty="0">
                <a:latin typeface="Quicksand" panose="020B0604020202020204" charset="0"/>
              </a:rPr>
              <a:t>    FUNCTION delete_task:</a:t>
            </a:r>
          </a:p>
          <a:p>
            <a:pPr algn="ctr">
              <a:lnSpc>
                <a:spcPts val="3893"/>
              </a:lnSpc>
            </a:pPr>
            <a:r>
              <a:rPr lang="en-US" sz="3600" dirty="0">
                <a:latin typeface="Quicksand" panose="020B0604020202020204" charset="0"/>
              </a:rPr>
              <a:t>        GET selected rows</a:t>
            </a:r>
          </a:p>
          <a:p>
            <a:pPr algn="ctr">
              <a:lnSpc>
                <a:spcPts val="3893"/>
              </a:lnSpc>
            </a:pPr>
            <a:r>
              <a:rPr lang="en-US" sz="3600" dirty="0">
                <a:latin typeface="Quicksand" panose="020B0604020202020204" charset="0"/>
              </a:rPr>
              <a:t>        IF user confirms:</a:t>
            </a:r>
          </a:p>
          <a:p>
            <a:pPr algn="ctr">
              <a:lnSpc>
                <a:spcPts val="3893"/>
              </a:lnSpc>
            </a:pPr>
            <a:r>
              <a:rPr lang="en-US" sz="3600" dirty="0">
                <a:latin typeface="Quicksand" panose="020B0604020202020204" charset="0"/>
              </a:rPr>
              <a:t>            REMOVE those tasks from the main list</a:t>
            </a:r>
          </a:p>
          <a:p>
            <a:pPr algn="ctr">
              <a:lnSpc>
                <a:spcPts val="3893"/>
              </a:lnSpc>
            </a:pPr>
            <a:r>
              <a:rPr lang="en-US" sz="3600" dirty="0">
                <a:latin typeface="Quicksand" panose="020B0604020202020204" charset="0"/>
              </a:rPr>
              <a:t>            SAVE and REFRESH table</a:t>
            </a:r>
            <a:endParaRPr lang="en-US" sz="3600" dirty="0">
              <a:solidFill>
                <a:srgbClr val="000000"/>
              </a:solidFill>
              <a:latin typeface="Quicksand" panose="020B0604020202020204" charset="0"/>
              <a:ea typeface="Quicksand"/>
              <a:cs typeface="Quicksand"/>
              <a:sym typeface="Quicksand"/>
            </a:endParaRPr>
          </a:p>
        </p:txBody>
      </p:sp>
    </p:spTree>
    <p:extLst>
      <p:ext uri="{BB962C8B-B14F-4D97-AF65-F5344CB8AC3E}">
        <p14:creationId xmlns:p14="http://schemas.microsoft.com/office/powerpoint/2010/main" val="38666568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14600" y="647700"/>
            <a:ext cx="12115799" cy="5001369"/>
          </a:xfrm>
          <a:prstGeom prst="rect">
            <a:avLst/>
          </a:prstGeom>
        </p:spPr>
        <p:txBody>
          <a:bodyPr wrap="square" lIns="0" tIns="0" rIns="0" bIns="0" rtlCol="0" anchor="t">
            <a:spAutoFit/>
          </a:bodyPr>
          <a:lstStyle/>
          <a:p>
            <a:pPr algn="ctr">
              <a:lnSpc>
                <a:spcPts val="3893"/>
              </a:lnSpc>
            </a:pPr>
            <a:r>
              <a:rPr lang="en-US" sz="3600" dirty="0">
                <a:solidFill>
                  <a:srgbClr val="004AAD"/>
                </a:solidFill>
                <a:latin typeface="Bungee"/>
                <a:ea typeface="Bungee"/>
                <a:cs typeface="Bungee"/>
                <a:sym typeface="Bungee"/>
              </a:rPr>
              <a:t>Process Flow (in Pseudocode)</a:t>
            </a:r>
          </a:p>
          <a:p>
            <a:pPr algn="ctr">
              <a:lnSpc>
                <a:spcPts val="3893"/>
              </a:lnSpc>
            </a:pPr>
            <a:endParaRPr lang="en-US" sz="3600" dirty="0" smtClean="0">
              <a:latin typeface="Quicksand" panose="020B0604020202020204" charset="0"/>
            </a:endParaRPr>
          </a:p>
          <a:p>
            <a:pPr algn="ctr">
              <a:lnSpc>
                <a:spcPts val="3893"/>
              </a:lnSpc>
            </a:pPr>
            <a:r>
              <a:rPr lang="en-US" sz="3600" dirty="0" smtClean="0">
                <a:latin typeface="Quicksand" panose="020B0604020202020204" charset="0"/>
              </a:rPr>
              <a:t>FUNCTION </a:t>
            </a:r>
            <a:r>
              <a:rPr lang="en-US" sz="3600" dirty="0">
                <a:latin typeface="Quicksand" panose="020B0604020202020204" charset="0"/>
              </a:rPr>
              <a:t>main:</a:t>
            </a:r>
          </a:p>
          <a:p>
            <a:pPr algn="ctr">
              <a:lnSpc>
                <a:spcPts val="3893"/>
              </a:lnSpc>
            </a:pPr>
            <a:r>
              <a:rPr lang="en-US" sz="3600" dirty="0">
                <a:latin typeface="Quicksand" panose="020B0604020202020204" charset="0"/>
              </a:rPr>
              <a:t>    CREATE the primary window (Tkinter root)</a:t>
            </a:r>
          </a:p>
          <a:p>
            <a:pPr algn="ctr">
              <a:lnSpc>
                <a:spcPts val="3893"/>
              </a:lnSpc>
            </a:pPr>
            <a:r>
              <a:rPr lang="en-US" sz="3600" dirty="0">
                <a:latin typeface="Quicksand" panose="020B0604020202020204" charset="0"/>
              </a:rPr>
              <a:t>    START LoginWindow</a:t>
            </a:r>
          </a:p>
          <a:p>
            <a:pPr algn="ctr">
              <a:lnSpc>
                <a:spcPts val="3893"/>
              </a:lnSpc>
            </a:pPr>
            <a:r>
              <a:rPr lang="en-US" sz="3600" dirty="0">
                <a:latin typeface="Quicksand" panose="020B0604020202020204" charset="0"/>
              </a:rPr>
              <a:t>    IF Login is successful:</a:t>
            </a:r>
          </a:p>
          <a:p>
            <a:pPr algn="ctr">
              <a:lnSpc>
                <a:spcPts val="3893"/>
              </a:lnSpc>
            </a:pPr>
            <a:r>
              <a:rPr lang="en-US" sz="3600" dirty="0">
                <a:latin typeface="Quicksand" panose="020B0604020202020204" charset="0"/>
              </a:rPr>
              <a:t>        LAUNCH TimeManagerGUI</a:t>
            </a:r>
          </a:p>
          <a:p>
            <a:pPr algn="ctr">
              <a:lnSpc>
                <a:spcPts val="3893"/>
              </a:lnSpc>
            </a:pPr>
            <a:r>
              <a:rPr lang="en-US" sz="3600" dirty="0">
                <a:latin typeface="Quicksand" panose="020B0604020202020204" charset="0"/>
              </a:rPr>
              <a:t>    KEEP the window open (Main Loop)</a:t>
            </a:r>
          </a:p>
          <a:p>
            <a:pPr algn="ctr">
              <a:lnSpc>
                <a:spcPts val="3893"/>
              </a:lnSpc>
            </a:pPr>
            <a:endParaRPr lang="en-US" sz="3600" dirty="0">
              <a:latin typeface="Quicksand" panose="020B0604020202020204" charset="0"/>
            </a:endParaRPr>
          </a:p>
          <a:p>
            <a:pPr algn="ctr">
              <a:lnSpc>
                <a:spcPts val="3893"/>
              </a:lnSpc>
            </a:pPr>
            <a:r>
              <a:rPr lang="en-US" sz="3600" dirty="0">
                <a:latin typeface="Quicksand" panose="020B0604020202020204" charset="0"/>
              </a:rPr>
              <a:t>START Program</a:t>
            </a:r>
            <a:endParaRPr lang="en-US" sz="3600" dirty="0">
              <a:solidFill>
                <a:srgbClr val="000000"/>
              </a:solidFill>
              <a:latin typeface="Quicksand" panose="020B0604020202020204" charset="0"/>
              <a:ea typeface="Quicksand"/>
              <a:cs typeface="Quicksand"/>
              <a:sym typeface="Quicksand"/>
            </a:endParaRPr>
          </a:p>
        </p:txBody>
      </p:sp>
    </p:spTree>
    <p:extLst>
      <p:ext uri="{BB962C8B-B14F-4D97-AF65-F5344CB8AC3E}">
        <p14:creationId xmlns:p14="http://schemas.microsoft.com/office/powerpoint/2010/main" val="25668850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6254" y="419100"/>
            <a:ext cx="18354254" cy="10091188"/>
          </a:xfrm>
          <a:prstGeom prst="rect">
            <a:avLst/>
          </a:prstGeom>
        </p:spPr>
      </p:pic>
    </p:spTree>
    <p:extLst>
      <p:ext uri="{BB962C8B-B14F-4D97-AF65-F5344CB8AC3E}">
        <p14:creationId xmlns:p14="http://schemas.microsoft.com/office/powerpoint/2010/main" val="9082502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023320" y="751012"/>
            <a:ext cx="12115799" cy="500137"/>
          </a:xfrm>
          <a:prstGeom prst="rect">
            <a:avLst/>
          </a:prstGeom>
        </p:spPr>
        <p:txBody>
          <a:bodyPr wrap="square" lIns="0" tIns="0" rIns="0" bIns="0" rtlCol="0" anchor="t">
            <a:spAutoFit/>
          </a:bodyPr>
          <a:lstStyle/>
          <a:p>
            <a:pPr algn="ctr">
              <a:lnSpc>
                <a:spcPts val="3893"/>
              </a:lnSpc>
            </a:pPr>
            <a:endParaRPr lang="en-US" sz="3600" dirty="0">
              <a:solidFill>
                <a:srgbClr val="000000"/>
              </a:solidFill>
              <a:latin typeface="Quicksand" panose="020B0604020202020204" charset="0"/>
              <a:ea typeface="Quicksand"/>
              <a:cs typeface="Quicksand"/>
              <a:sym typeface="Quicksand"/>
            </a:endParaRPr>
          </a:p>
        </p:txBody>
      </p:sp>
      <p:sp>
        <p:nvSpPr>
          <p:cNvPr id="7" name="Rectangle 4"/>
          <p:cNvSpPr>
            <a:spLocks noChangeArrowheads="1"/>
          </p:cNvSpPr>
          <p:nvPr/>
        </p:nvSpPr>
        <p:spPr bwMode="auto">
          <a:xfrm>
            <a:off x="935088" y="2613709"/>
            <a:ext cx="1656184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Smart Organization:</a:t>
            </a:r>
            <a:r>
              <a:rPr kumimoji="0" lang="en-US" altLang="en-US" sz="1800" b="0" i="0" u="none" strike="noStrike" cap="none" normalizeH="0" baseline="0" dirty="0" smtClean="0">
                <a:ln>
                  <a:noFill/>
                </a:ln>
                <a:solidFill>
                  <a:schemeClr val="tx1"/>
                </a:solidFill>
                <a:effectLst/>
                <a:latin typeface="Arial" panose="020B0604020202020204" pitchFamily="34" charset="0"/>
              </a:rPr>
              <a:t> I used Object-Oriented Programming, which is just a fancy way of saying the code is split into two specialized parts,</a:t>
            </a:r>
            <a:r>
              <a:rPr kumimoji="0" lang="en-US" altLang="en-US" sz="1800" b="0" i="0" u="none" strike="noStrike" cap="none" normalizeH="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one that handles the front door (Login) and one that runs the actual office (the Dashboard).</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Personalized Storage:</a:t>
            </a:r>
            <a:r>
              <a:rPr kumimoji="0" lang="en-US" altLang="en-US" sz="1800" b="0" i="0" u="none" strike="noStrike" cap="none" normalizeH="0" baseline="0" dirty="0" smtClean="0">
                <a:ln>
                  <a:noFill/>
                </a:ln>
                <a:solidFill>
                  <a:schemeClr val="tx1"/>
                </a:solidFill>
                <a:effectLst/>
                <a:latin typeface="Arial" panose="020B0604020202020204" pitchFamily="34" charset="0"/>
              </a:rPr>
              <a:t> Instead of dumping everyone’s data into one messy pile, the app creates a custom JSON file for every user. This keeps your "To-Do" list private and separate from anyone else using the system.</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Clean Design:</a:t>
            </a:r>
            <a:r>
              <a:rPr kumimoji="0" lang="en-US" altLang="en-US" sz="1800" b="0" i="0" u="none" strike="noStrike" cap="none" normalizeH="0" baseline="0" dirty="0" smtClean="0">
                <a:ln>
                  <a:noFill/>
                </a:ln>
                <a:solidFill>
                  <a:schemeClr val="tx1"/>
                </a:solidFill>
                <a:effectLst/>
                <a:latin typeface="Arial" panose="020B0604020202020204" pitchFamily="34" charset="0"/>
              </a:rPr>
              <a:t> The layout uses a "Sidebar-Workspace" style. By putting the "Add Task" tools on the left and the "Big Picture" table on the right, it keeps the screen from feeling cluttered and makes it obvious what to do next.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5"/>
          <p:cNvSpPr>
            <a:spLocks noChangeArrowheads="1"/>
          </p:cNvSpPr>
          <p:nvPr/>
        </p:nvSpPr>
        <p:spPr bwMode="auto">
          <a:xfrm rot="10800000" flipV="1">
            <a:off x="904823" y="4423420"/>
            <a:ext cx="163040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Live Updates:</a:t>
            </a:r>
            <a:r>
              <a:rPr kumimoji="0" lang="en-US" altLang="en-US" sz="1800" b="0" i="0" u="none" strike="noStrike" cap="none" normalizeH="0" baseline="0" dirty="0" smtClean="0">
                <a:ln>
                  <a:noFill/>
                </a:ln>
                <a:solidFill>
                  <a:schemeClr val="tx1"/>
                </a:solidFill>
                <a:effectLst/>
                <a:latin typeface="Arial" panose="020B0604020202020204" pitchFamily="34" charset="0"/>
              </a:rPr>
              <a:t> I set up a "Search" feature that listens to your keyboard. As soon as you type a letter, the list updates instantly,</a:t>
            </a:r>
            <a:r>
              <a:rPr kumimoji="0" lang="en-US" altLang="en-US" sz="1800" b="0" i="0" u="none" strike="noStrike" cap="none" normalizeH="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no "Search" button required.</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Automatic Priority:</a:t>
            </a:r>
            <a:r>
              <a:rPr kumimoji="0" lang="en-US" altLang="en-US" sz="1800" b="0" i="0" u="none" strike="noStrike" cap="none" normalizeH="0" baseline="0" dirty="0" smtClean="0">
                <a:ln>
                  <a:noFill/>
                </a:ln>
                <a:solidFill>
                  <a:schemeClr val="tx1"/>
                </a:solidFill>
                <a:effectLst/>
                <a:latin typeface="Arial" panose="020B0604020202020204" pitchFamily="34" charset="0"/>
              </a:rPr>
              <a:t> The app does the thinking for you when it comes to order. It uses a sorting rule that pushes your urgent "High Priority" tasks to the top and moves finished tasks to the bottom so they stay out of your way.</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Safety First:</a:t>
            </a:r>
            <a:r>
              <a:rPr kumimoji="0" lang="en-US" altLang="en-US" sz="1800" b="0" i="0" u="none" strike="noStrike" cap="none" normalizeH="0" baseline="0" dirty="0" smtClean="0">
                <a:ln>
                  <a:noFill/>
                </a:ln>
                <a:solidFill>
                  <a:schemeClr val="tx1"/>
                </a:solidFill>
                <a:effectLst/>
                <a:latin typeface="Arial" panose="020B0604020202020204" pitchFamily="34" charset="0"/>
              </a:rPr>
              <a:t> To prevent the app from breaking, I added Input Validation. This means if you accidentally type "Two" instead of "2" for hours, the app will gently tell you there’s a mistake rather than just crashing.</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TextBox 8"/>
          <p:cNvSpPr txBox="1"/>
          <p:nvPr/>
        </p:nvSpPr>
        <p:spPr>
          <a:xfrm>
            <a:off x="1151112" y="1687116"/>
            <a:ext cx="7128792" cy="369332"/>
          </a:xfrm>
          <a:prstGeom prst="rect">
            <a:avLst/>
          </a:prstGeom>
          <a:noFill/>
        </p:spPr>
        <p:txBody>
          <a:bodyPr wrap="square" rtlCol="0">
            <a:spAutoFit/>
          </a:bodyPr>
          <a:lstStyle/>
          <a:p>
            <a:r>
              <a:rPr lang="en-US" dirty="0" smtClean="0"/>
              <a:t>Methodology </a:t>
            </a:r>
            <a:endParaRPr lang="en-US" dirty="0"/>
          </a:p>
        </p:txBody>
      </p:sp>
    </p:spTree>
    <p:extLst>
      <p:ext uri="{BB962C8B-B14F-4D97-AF65-F5344CB8AC3E}">
        <p14:creationId xmlns:p14="http://schemas.microsoft.com/office/powerpoint/2010/main" val="2689600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929686" y="4214806"/>
            <a:ext cx="7667455" cy="2157266"/>
            <a:chOff x="0" y="0"/>
            <a:chExt cx="2020741" cy="568543"/>
          </a:xfrm>
        </p:grpSpPr>
        <p:sp>
          <p:nvSpPr>
            <p:cNvPr id="3" name="Freeform 3"/>
            <p:cNvSpPr/>
            <p:nvPr/>
          </p:nvSpPr>
          <p:spPr>
            <a:xfrm>
              <a:off x="0" y="0"/>
              <a:ext cx="2020741" cy="568543"/>
            </a:xfrm>
            <a:custGeom>
              <a:avLst/>
              <a:gdLst/>
              <a:ahLst/>
              <a:cxnLst/>
              <a:rect l="l" t="t" r="r" b="b"/>
              <a:pathLst>
                <a:path w="2020741" h="568543">
                  <a:moveTo>
                    <a:pt x="100971" y="0"/>
                  </a:moveTo>
                  <a:lnTo>
                    <a:pt x="1919770" y="0"/>
                  </a:lnTo>
                  <a:cubicBezTo>
                    <a:pt x="1946549" y="0"/>
                    <a:pt x="1972231" y="10638"/>
                    <a:pt x="1991167" y="29574"/>
                  </a:cubicBezTo>
                  <a:cubicBezTo>
                    <a:pt x="2010103" y="48510"/>
                    <a:pt x="2020741" y="74192"/>
                    <a:pt x="2020741" y="100971"/>
                  </a:cubicBezTo>
                  <a:lnTo>
                    <a:pt x="2020741" y="467572"/>
                  </a:lnTo>
                  <a:cubicBezTo>
                    <a:pt x="2020741" y="523336"/>
                    <a:pt x="1975535" y="568543"/>
                    <a:pt x="1919770" y="568543"/>
                  </a:cubicBezTo>
                  <a:lnTo>
                    <a:pt x="100971" y="568543"/>
                  </a:lnTo>
                  <a:cubicBezTo>
                    <a:pt x="45206" y="568543"/>
                    <a:pt x="0" y="523336"/>
                    <a:pt x="0" y="467572"/>
                  </a:cubicBezTo>
                  <a:lnTo>
                    <a:pt x="0" y="100971"/>
                  </a:lnTo>
                  <a:cubicBezTo>
                    <a:pt x="0" y="45206"/>
                    <a:pt x="45206" y="0"/>
                    <a:pt x="100971" y="0"/>
                  </a:cubicBezTo>
                  <a:close/>
                </a:path>
              </a:pathLst>
            </a:custGeom>
            <a:solidFill>
              <a:srgbClr val="FFFFFF"/>
            </a:solidFill>
          </p:spPr>
        </p:sp>
        <p:sp>
          <p:nvSpPr>
            <p:cNvPr id="4" name="TextBox 4"/>
            <p:cNvSpPr txBox="1"/>
            <p:nvPr/>
          </p:nvSpPr>
          <p:spPr>
            <a:xfrm>
              <a:off x="0" y="-38100"/>
              <a:ext cx="2020741"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17054" y="4141067"/>
            <a:ext cx="7020548" cy="2157266"/>
            <a:chOff x="0" y="0"/>
            <a:chExt cx="1850250" cy="568543"/>
          </a:xfrm>
        </p:grpSpPr>
        <p:sp>
          <p:nvSpPr>
            <p:cNvPr id="6" name="Freeform 6"/>
            <p:cNvSpPr/>
            <p:nvPr/>
          </p:nvSpPr>
          <p:spPr>
            <a:xfrm>
              <a:off x="0" y="0"/>
              <a:ext cx="1850250" cy="568543"/>
            </a:xfrm>
            <a:custGeom>
              <a:avLst/>
              <a:gdLst/>
              <a:ahLst/>
              <a:cxnLst/>
              <a:rect l="l" t="t" r="r" b="b"/>
              <a:pathLst>
                <a:path w="1850250" h="568543">
                  <a:moveTo>
                    <a:pt x="110275" y="0"/>
                  </a:moveTo>
                  <a:lnTo>
                    <a:pt x="1739975" y="0"/>
                  </a:lnTo>
                  <a:cubicBezTo>
                    <a:pt x="1769222" y="0"/>
                    <a:pt x="1797271" y="11618"/>
                    <a:pt x="1817951" y="32299"/>
                  </a:cubicBezTo>
                  <a:cubicBezTo>
                    <a:pt x="1838632" y="52979"/>
                    <a:pt x="1850250" y="81028"/>
                    <a:pt x="1850250" y="110275"/>
                  </a:cubicBezTo>
                  <a:lnTo>
                    <a:pt x="1850250" y="458268"/>
                  </a:lnTo>
                  <a:cubicBezTo>
                    <a:pt x="1850250" y="487514"/>
                    <a:pt x="1838632" y="515563"/>
                    <a:pt x="1817951" y="536244"/>
                  </a:cubicBezTo>
                  <a:cubicBezTo>
                    <a:pt x="1797271" y="556925"/>
                    <a:pt x="1769222" y="568543"/>
                    <a:pt x="1739975" y="568543"/>
                  </a:cubicBezTo>
                  <a:lnTo>
                    <a:pt x="110275" y="568543"/>
                  </a:lnTo>
                  <a:cubicBezTo>
                    <a:pt x="81028" y="568543"/>
                    <a:pt x="52979" y="556925"/>
                    <a:pt x="32299" y="536244"/>
                  </a:cubicBezTo>
                  <a:cubicBezTo>
                    <a:pt x="11618" y="515563"/>
                    <a:pt x="0" y="487514"/>
                    <a:pt x="0" y="458268"/>
                  </a:cubicBezTo>
                  <a:lnTo>
                    <a:pt x="0" y="110275"/>
                  </a:lnTo>
                  <a:cubicBezTo>
                    <a:pt x="0" y="81028"/>
                    <a:pt x="11618" y="52979"/>
                    <a:pt x="32299" y="32299"/>
                  </a:cubicBezTo>
                  <a:cubicBezTo>
                    <a:pt x="52979" y="11618"/>
                    <a:pt x="81028" y="0"/>
                    <a:pt x="110275" y="0"/>
                  </a:cubicBezTo>
                  <a:close/>
                </a:path>
              </a:pathLst>
            </a:custGeom>
            <a:solidFill>
              <a:srgbClr val="FFFFFF"/>
            </a:solidFill>
          </p:spPr>
        </p:sp>
        <p:sp>
          <p:nvSpPr>
            <p:cNvPr id="7" name="TextBox 7"/>
            <p:cNvSpPr txBox="1"/>
            <p:nvPr/>
          </p:nvSpPr>
          <p:spPr>
            <a:xfrm>
              <a:off x="0" y="-38100"/>
              <a:ext cx="1850250"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393601" y="4141067"/>
            <a:ext cx="7667455" cy="2157266"/>
            <a:chOff x="0" y="0"/>
            <a:chExt cx="2020741" cy="568543"/>
          </a:xfrm>
        </p:grpSpPr>
        <p:sp>
          <p:nvSpPr>
            <p:cNvPr id="9" name="Freeform 9"/>
            <p:cNvSpPr/>
            <p:nvPr/>
          </p:nvSpPr>
          <p:spPr>
            <a:xfrm>
              <a:off x="0" y="0"/>
              <a:ext cx="2020741" cy="568543"/>
            </a:xfrm>
            <a:custGeom>
              <a:avLst/>
              <a:gdLst/>
              <a:ahLst/>
              <a:cxnLst/>
              <a:rect l="l" t="t" r="r" b="b"/>
              <a:pathLst>
                <a:path w="2020741" h="568543">
                  <a:moveTo>
                    <a:pt x="100971" y="0"/>
                  </a:moveTo>
                  <a:lnTo>
                    <a:pt x="1919770" y="0"/>
                  </a:lnTo>
                  <a:cubicBezTo>
                    <a:pt x="1946549" y="0"/>
                    <a:pt x="1972231" y="10638"/>
                    <a:pt x="1991167" y="29574"/>
                  </a:cubicBezTo>
                  <a:cubicBezTo>
                    <a:pt x="2010103" y="48510"/>
                    <a:pt x="2020741" y="74192"/>
                    <a:pt x="2020741" y="100971"/>
                  </a:cubicBezTo>
                  <a:lnTo>
                    <a:pt x="2020741" y="467572"/>
                  </a:lnTo>
                  <a:cubicBezTo>
                    <a:pt x="2020741" y="523336"/>
                    <a:pt x="1975535" y="568543"/>
                    <a:pt x="1919770" y="568543"/>
                  </a:cubicBezTo>
                  <a:lnTo>
                    <a:pt x="100971" y="568543"/>
                  </a:lnTo>
                  <a:cubicBezTo>
                    <a:pt x="45206" y="568543"/>
                    <a:pt x="0" y="523336"/>
                    <a:pt x="0" y="467572"/>
                  </a:cubicBezTo>
                  <a:lnTo>
                    <a:pt x="0" y="100971"/>
                  </a:lnTo>
                  <a:cubicBezTo>
                    <a:pt x="0" y="45206"/>
                    <a:pt x="45206" y="0"/>
                    <a:pt x="100971" y="0"/>
                  </a:cubicBezTo>
                  <a:close/>
                </a:path>
              </a:pathLst>
            </a:custGeom>
            <a:solidFill>
              <a:srgbClr val="ABBADA"/>
            </a:solidFill>
          </p:spPr>
        </p:sp>
        <p:sp>
          <p:nvSpPr>
            <p:cNvPr id="10" name="TextBox 10"/>
            <p:cNvSpPr txBox="1"/>
            <p:nvPr/>
          </p:nvSpPr>
          <p:spPr>
            <a:xfrm>
              <a:off x="0" y="-38100"/>
              <a:ext cx="2020741" cy="606643"/>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500134" y="6572260"/>
            <a:ext cx="14430476" cy="2829572"/>
            <a:chOff x="0" y="0"/>
            <a:chExt cx="2020741" cy="745728"/>
          </a:xfrm>
        </p:grpSpPr>
        <p:sp>
          <p:nvSpPr>
            <p:cNvPr id="12" name="Freeform 12"/>
            <p:cNvSpPr/>
            <p:nvPr/>
          </p:nvSpPr>
          <p:spPr>
            <a:xfrm>
              <a:off x="0" y="0"/>
              <a:ext cx="2020741" cy="745727"/>
            </a:xfrm>
            <a:custGeom>
              <a:avLst/>
              <a:gdLst/>
              <a:ahLst/>
              <a:cxnLst/>
              <a:rect l="l" t="t" r="r" b="b"/>
              <a:pathLst>
                <a:path w="2020741" h="745727">
                  <a:moveTo>
                    <a:pt x="100971" y="0"/>
                  </a:moveTo>
                  <a:lnTo>
                    <a:pt x="1919770" y="0"/>
                  </a:lnTo>
                  <a:cubicBezTo>
                    <a:pt x="1946549" y="0"/>
                    <a:pt x="1972231" y="10638"/>
                    <a:pt x="1991167" y="29574"/>
                  </a:cubicBezTo>
                  <a:cubicBezTo>
                    <a:pt x="2010103" y="48510"/>
                    <a:pt x="2020741" y="74192"/>
                    <a:pt x="2020741" y="100971"/>
                  </a:cubicBezTo>
                  <a:lnTo>
                    <a:pt x="2020741" y="644756"/>
                  </a:lnTo>
                  <a:cubicBezTo>
                    <a:pt x="2020741" y="700521"/>
                    <a:pt x="1975535" y="745727"/>
                    <a:pt x="1919770" y="745727"/>
                  </a:cubicBezTo>
                  <a:lnTo>
                    <a:pt x="100971" y="745727"/>
                  </a:lnTo>
                  <a:cubicBezTo>
                    <a:pt x="45206" y="745727"/>
                    <a:pt x="0" y="700521"/>
                    <a:pt x="0" y="644756"/>
                  </a:cubicBezTo>
                  <a:lnTo>
                    <a:pt x="0" y="100971"/>
                  </a:lnTo>
                  <a:cubicBezTo>
                    <a:pt x="0" y="45206"/>
                    <a:pt x="45206" y="0"/>
                    <a:pt x="100971" y="0"/>
                  </a:cubicBezTo>
                  <a:close/>
                </a:path>
              </a:pathLst>
            </a:custGeom>
            <a:solidFill>
              <a:srgbClr val="FFFFFF"/>
            </a:solidFill>
          </p:spPr>
        </p:sp>
        <p:sp>
          <p:nvSpPr>
            <p:cNvPr id="13" name="TextBox 13"/>
            <p:cNvSpPr txBox="1"/>
            <p:nvPr/>
          </p:nvSpPr>
          <p:spPr>
            <a:xfrm>
              <a:off x="0" y="-38100"/>
              <a:ext cx="2020741" cy="783828"/>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rot="627676">
            <a:off x="12395523" y="381494"/>
            <a:ext cx="2272529" cy="3289187"/>
          </a:xfrm>
          <a:custGeom>
            <a:avLst/>
            <a:gdLst/>
            <a:ahLst/>
            <a:cxnLst/>
            <a:rect l="l" t="t" r="r" b="b"/>
            <a:pathLst>
              <a:path w="2272529" h="3289187">
                <a:moveTo>
                  <a:pt x="0" y="0"/>
                </a:moveTo>
                <a:lnTo>
                  <a:pt x="2272529" y="0"/>
                </a:lnTo>
                <a:lnTo>
                  <a:pt x="2272529" y="3289187"/>
                </a:lnTo>
                <a:lnTo>
                  <a:pt x="0" y="328918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6" name="TextBox 16"/>
          <p:cNvSpPr txBox="1"/>
          <p:nvPr/>
        </p:nvSpPr>
        <p:spPr>
          <a:xfrm>
            <a:off x="3749339" y="2019843"/>
            <a:ext cx="10789322" cy="1152526"/>
          </a:xfrm>
          <a:prstGeom prst="rect">
            <a:avLst/>
          </a:prstGeom>
        </p:spPr>
        <p:txBody>
          <a:bodyPr lIns="0" tIns="0" rIns="0" bIns="0" rtlCol="0" anchor="t">
            <a:spAutoFit/>
          </a:bodyPr>
          <a:lstStyle/>
          <a:p>
            <a:pPr algn="ctr">
              <a:lnSpc>
                <a:spcPts val="7200"/>
              </a:lnSpc>
            </a:pPr>
            <a:r>
              <a:rPr lang="en-US" sz="8000">
                <a:solidFill>
                  <a:srgbClr val="1D3163"/>
                </a:solidFill>
                <a:latin typeface="Bungee"/>
                <a:ea typeface="Bungee"/>
                <a:cs typeface="Bungee"/>
                <a:sym typeface="Bungee"/>
              </a:rPr>
              <a:t>CONCLUSION</a:t>
            </a:r>
          </a:p>
        </p:txBody>
      </p:sp>
      <p:sp>
        <p:nvSpPr>
          <p:cNvPr id="17" name="TextBox 17"/>
          <p:cNvSpPr txBox="1"/>
          <p:nvPr/>
        </p:nvSpPr>
        <p:spPr>
          <a:xfrm>
            <a:off x="2843719" y="4292929"/>
            <a:ext cx="4575237" cy="1872592"/>
          </a:xfrm>
          <a:prstGeom prst="rect">
            <a:avLst/>
          </a:prstGeom>
        </p:spPr>
        <p:txBody>
          <a:bodyPr lIns="0" tIns="0" rIns="0" bIns="0" rtlCol="0" anchor="t">
            <a:spAutoFit/>
          </a:bodyPr>
          <a:lstStyle/>
          <a:p>
            <a:pPr algn="ctr">
              <a:lnSpc>
                <a:spcPts val="2967"/>
              </a:lnSpc>
            </a:pPr>
            <a:r>
              <a:rPr lang="en-US" sz="2698" b="1">
                <a:solidFill>
                  <a:srgbClr val="1D3163"/>
                </a:solidFill>
                <a:latin typeface="Quicksand Bold"/>
                <a:ea typeface="Quicksand Bold"/>
                <a:cs typeface="Quicksand Bold"/>
                <a:sym typeface="Quicksand Bold"/>
              </a:rPr>
              <a:t>Data Capture: The system efficiently captures all necessary details—Name, Due Date, Hours, and Priority—for each task.</a:t>
            </a:r>
          </a:p>
        </p:txBody>
      </p:sp>
      <p:sp>
        <p:nvSpPr>
          <p:cNvPr id="18" name="TextBox 18"/>
          <p:cNvSpPr txBox="1"/>
          <p:nvPr/>
        </p:nvSpPr>
        <p:spPr>
          <a:xfrm>
            <a:off x="10563664" y="4292929"/>
            <a:ext cx="4828126" cy="1872592"/>
          </a:xfrm>
          <a:prstGeom prst="rect">
            <a:avLst/>
          </a:prstGeom>
        </p:spPr>
        <p:txBody>
          <a:bodyPr lIns="0" tIns="0" rIns="0" bIns="0" rtlCol="0" anchor="t">
            <a:spAutoFit/>
          </a:bodyPr>
          <a:lstStyle/>
          <a:p>
            <a:pPr algn="ctr">
              <a:lnSpc>
                <a:spcPts val="2967"/>
              </a:lnSpc>
            </a:pPr>
            <a:r>
              <a:rPr lang="en-US" sz="2698" b="1">
                <a:solidFill>
                  <a:srgbClr val="1D3163"/>
                </a:solidFill>
                <a:latin typeface="Quicksand Bold"/>
                <a:ea typeface="Quicksand Bold"/>
                <a:cs typeface="Quicksand Bold"/>
                <a:sym typeface="Quicksand Bold"/>
              </a:rPr>
              <a:t>Tracking and Status: It maintains a clear record of tasks, distinguishing between Pending and Completed status.</a:t>
            </a:r>
          </a:p>
        </p:txBody>
      </p:sp>
      <p:sp>
        <p:nvSpPr>
          <p:cNvPr id="19" name="TextBox 19"/>
          <p:cNvSpPr txBox="1"/>
          <p:nvPr/>
        </p:nvSpPr>
        <p:spPr>
          <a:xfrm>
            <a:off x="2643142" y="6572260"/>
            <a:ext cx="5112625" cy="2547597"/>
          </a:xfrm>
          <a:prstGeom prst="rect">
            <a:avLst/>
          </a:prstGeom>
        </p:spPr>
        <p:txBody>
          <a:bodyPr lIns="0" tIns="0" rIns="0" bIns="0" rtlCol="0" anchor="t">
            <a:spAutoFit/>
          </a:bodyPr>
          <a:lstStyle/>
          <a:p>
            <a:pPr algn="ctr">
              <a:lnSpc>
                <a:spcPts val="2857"/>
              </a:lnSpc>
            </a:pPr>
            <a:r>
              <a:rPr lang="en-US" sz="2598" b="1" dirty="0">
                <a:solidFill>
                  <a:srgbClr val="1D3163"/>
                </a:solidFill>
                <a:latin typeface="Quicksand Bold"/>
                <a:ea typeface="Quicksand Bold"/>
                <a:cs typeface="Quicksand Bold"/>
                <a:sym typeface="Quicksand Bold"/>
              </a:rPr>
              <a:t>Time Awareness: By calculating the Total Remaining Hours, the program provides the student with a crucial metric for managing their overall workload and planning their study time effectively.</a:t>
            </a:r>
          </a:p>
        </p:txBody>
      </p:sp>
      <p:sp>
        <p:nvSpPr>
          <p:cNvPr id="21" name="Freeform 9"/>
          <p:cNvSpPr/>
          <p:nvPr/>
        </p:nvSpPr>
        <p:spPr>
          <a:xfrm>
            <a:off x="9072562" y="6500822"/>
            <a:ext cx="7667455" cy="2928958"/>
          </a:xfrm>
          <a:custGeom>
            <a:avLst/>
            <a:gdLst/>
            <a:ahLst/>
            <a:cxnLst/>
            <a:rect l="l" t="t" r="r" b="b"/>
            <a:pathLst>
              <a:path w="2020741" h="568543">
                <a:moveTo>
                  <a:pt x="100971" y="0"/>
                </a:moveTo>
                <a:lnTo>
                  <a:pt x="1919770" y="0"/>
                </a:lnTo>
                <a:cubicBezTo>
                  <a:pt x="1946549" y="0"/>
                  <a:pt x="1972231" y="10638"/>
                  <a:pt x="1991167" y="29574"/>
                </a:cubicBezTo>
                <a:cubicBezTo>
                  <a:pt x="2010103" y="48510"/>
                  <a:pt x="2020741" y="74192"/>
                  <a:pt x="2020741" y="100971"/>
                </a:cubicBezTo>
                <a:lnTo>
                  <a:pt x="2020741" y="467572"/>
                </a:lnTo>
                <a:cubicBezTo>
                  <a:pt x="2020741" y="523336"/>
                  <a:pt x="1975535" y="568543"/>
                  <a:pt x="1919770" y="568543"/>
                </a:cubicBezTo>
                <a:lnTo>
                  <a:pt x="100971" y="568543"/>
                </a:lnTo>
                <a:cubicBezTo>
                  <a:pt x="45206" y="568543"/>
                  <a:pt x="0" y="523336"/>
                  <a:pt x="0" y="467572"/>
                </a:cubicBezTo>
                <a:lnTo>
                  <a:pt x="0" y="100971"/>
                </a:lnTo>
                <a:cubicBezTo>
                  <a:pt x="0" y="45206"/>
                  <a:pt x="45206" y="0"/>
                  <a:pt x="100971" y="0"/>
                </a:cubicBezTo>
                <a:close/>
              </a:path>
            </a:pathLst>
          </a:custGeom>
          <a:solidFill>
            <a:srgbClr val="ABBADA"/>
          </a:solidFill>
        </p:spPr>
      </p:sp>
      <p:sp>
        <p:nvSpPr>
          <p:cNvPr id="22" name="TextBox 10"/>
          <p:cNvSpPr txBox="1"/>
          <p:nvPr/>
        </p:nvSpPr>
        <p:spPr>
          <a:xfrm>
            <a:off x="9144000" y="3998802"/>
            <a:ext cx="7667455" cy="2301832"/>
          </a:xfrm>
          <a:prstGeom prst="rect">
            <a:avLst/>
          </a:prstGeom>
        </p:spPr>
        <p:txBody>
          <a:bodyPr lIns="50800" tIns="50800" rIns="50800" bIns="50800" rtlCol="0" anchor="ctr"/>
          <a:lstStyle/>
          <a:p>
            <a:pPr algn="ctr">
              <a:lnSpc>
                <a:spcPts val="2659"/>
              </a:lnSpc>
              <a:spcBef>
                <a:spcPct val="0"/>
              </a:spcBef>
            </a:pPr>
            <a:endParaRPr/>
          </a:p>
        </p:txBody>
      </p:sp>
      <p:sp>
        <p:nvSpPr>
          <p:cNvPr id="4097" name="Rectangle 1"/>
          <p:cNvSpPr>
            <a:spLocks noChangeArrowheads="1"/>
          </p:cNvSpPr>
          <p:nvPr/>
        </p:nvSpPr>
        <p:spPr bwMode="auto">
          <a:xfrm>
            <a:off x="9215438" y="6643698"/>
            <a:ext cx="6858048" cy="24929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600" b="0" i="0" u="none" strike="noStrike" cap="none" normalizeH="0" baseline="0" dirty="0" smtClean="0">
                <a:ln>
                  <a:noFill/>
                </a:ln>
                <a:solidFill>
                  <a:schemeClr val="tx1"/>
                </a:solidFill>
                <a:effectLst/>
                <a:latin typeface="Quicksand Bold" charset="0"/>
                <a:cs typeface="Arial" charset="0"/>
              </a:rPr>
              <a:t>Professional Scalability: From a basic tracker to a scalable productivity tool, the system has shown that student-led software can leverage complex UI design to solve difficult time management problems like "workload piling up."</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85139" y="790045"/>
            <a:ext cx="4725739" cy="554991"/>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Bungee"/>
                <a:ea typeface="Bungee"/>
                <a:cs typeface="Bungee"/>
                <a:sym typeface="Bungee"/>
              </a:rPr>
              <a:t>REFERENCE LIST ENTRY </a:t>
            </a:r>
          </a:p>
        </p:txBody>
      </p:sp>
      <p:sp>
        <p:nvSpPr>
          <p:cNvPr id="3" name="TextBox 3"/>
          <p:cNvSpPr txBox="1"/>
          <p:nvPr/>
        </p:nvSpPr>
        <p:spPr>
          <a:xfrm>
            <a:off x="0" y="1643662"/>
            <a:ext cx="18288000" cy="1545591"/>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Times New Roman"/>
                <a:ea typeface="Times New Roman"/>
                <a:cs typeface="Times New Roman"/>
                <a:sym typeface="Times New Roman"/>
              </a:rPr>
              <a:t>Alshahrani, A., &amp; Al-Samarraie, H. (2024). Mobile-based task management applications for students: A systematic literature review. Computers and Education: Artificial Intelligence, 6, 100207.     </a:t>
            </a:r>
            <a:r>
              <a:rPr lang="en-US" sz="2899">
                <a:solidFill>
                  <a:srgbClr val="004AAD"/>
                </a:solidFill>
                <a:latin typeface="Times New Roman"/>
                <a:ea typeface="Times New Roman"/>
                <a:cs typeface="Times New Roman"/>
                <a:sym typeface="Times New Roman"/>
              </a:rPr>
              <a:t>https://doi.org/10.1016/j.caeai.2024.100207</a:t>
            </a:r>
            <a:r>
              <a:rPr lang="en-US" sz="2899">
                <a:solidFill>
                  <a:srgbClr val="104A75"/>
                </a:solidFill>
                <a:latin typeface="Times New Roman"/>
                <a:ea typeface="Times New Roman"/>
                <a:cs typeface="Times New Roman"/>
                <a:sym typeface="Times New Roman"/>
              </a:rPr>
              <a:t> </a:t>
            </a:r>
          </a:p>
        </p:txBody>
      </p:sp>
      <p:sp>
        <p:nvSpPr>
          <p:cNvPr id="4" name="TextBox 4"/>
          <p:cNvSpPr txBox="1"/>
          <p:nvPr/>
        </p:nvSpPr>
        <p:spPr>
          <a:xfrm>
            <a:off x="0" y="3998878"/>
            <a:ext cx="18096018" cy="1545591"/>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Times New Roman"/>
                <a:ea typeface="Times New Roman"/>
                <a:cs typeface="Times New Roman"/>
                <a:sym typeface="Times New Roman"/>
              </a:rPr>
              <a:t>Gore, R. (2019). Academic self-regulation and time management challenges among college students. Journal of Educational Psychology, 42(3), 112–125. </a:t>
            </a:r>
          </a:p>
          <a:p>
            <a:pPr algn="ctr">
              <a:lnSpc>
                <a:spcPts val="4059"/>
              </a:lnSpc>
              <a:spcBef>
                <a:spcPct val="0"/>
              </a:spcBef>
            </a:pPr>
            <a:r>
              <a:rPr lang="en-US" sz="2899">
                <a:solidFill>
                  <a:srgbClr val="004AAD"/>
                </a:solidFill>
                <a:latin typeface="Times New Roman"/>
                <a:ea typeface="Times New Roman"/>
                <a:cs typeface="Times New Roman"/>
                <a:sym typeface="Times New Roman"/>
              </a:rPr>
              <a:t>https://doi.org/10.1037/edu0000300</a:t>
            </a:r>
          </a:p>
        </p:txBody>
      </p:sp>
      <p:sp>
        <p:nvSpPr>
          <p:cNvPr id="5" name="TextBox 5"/>
          <p:cNvSpPr txBox="1"/>
          <p:nvPr/>
        </p:nvSpPr>
        <p:spPr>
          <a:xfrm>
            <a:off x="0" y="6091237"/>
            <a:ext cx="18288000" cy="1545591"/>
          </a:xfrm>
          <a:prstGeom prst="rect">
            <a:avLst/>
          </a:prstGeom>
        </p:spPr>
        <p:txBody>
          <a:bodyPr lIns="0" tIns="0" rIns="0" bIns="0" rtlCol="0" anchor="t">
            <a:spAutoFit/>
          </a:bodyPr>
          <a:lstStyle/>
          <a:p>
            <a:pPr algn="ctr">
              <a:lnSpc>
                <a:spcPts val="4059"/>
              </a:lnSpc>
              <a:spcBef>
                <a:spcPct val="0"/>
              </a:spcBef>
            </a:pPr>
            <a:r>
              <a:rPr lang="en-US" sz="2899">
                <a:solidFill>
                  <a:srgbClr val="000000"/>
                </a:solidFill>
                <a:latin typeface="Times New Roman"/>
                <a:ea typeface="Times New Roman"/>
                <a:cs typeface="Times New Roman"/>
                <a:sym typeface="Times New Roman"/>
              </a:rPr>
              <a:t>Macan, T. H., Shahani, C., Dipboye, R. L., &amp; Phillips, A. P. (1990). College students' time management: Correlations with academic performance and stress. Journal of Educational Psychology, 82(4), 760–768. </a:t>
            </a:r>
          </a:p>
          <a:p>
            <a:pPr algn="ctr">
              <a:lnSpc>
                <a:spcPts val="4059"/>
              </a:lnSpc>
              <a:spcBef>
                <a:spcPct val="0"/>
              </a:spcBef>
            </a:pPr>
            <a:r>
              <a:rPr lang="en-US" sz="2899">
                <a:solidFill>
                  <a:srgbClr val="004AAD"/>
                </a:solidFill>
                <a:latin typeface="Times New Roman"/>
                <a:ea typeface="Times New Roman"/>
                <a:cs typeface="Times New Roman"/>
                <a:sym typeface="Times New Roman"/>
              </a:rPr>
              <a:t>https://doi.org/10.1037/0022-0663.82.4.760</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9829800" y="7168386"/>
            <a:ext cx="6349841" cy="1311407"/>
            <a:chOff x="0" y="0"/>
            <a:chExt cx="1910423" cy="564154"/>
          </a:xfrm>
        </p:grpSpPr>
        <p:sp>
          <p:nvSpPr>
            <p:cNvPr id="6" name="Freeform 6"/>
            <p:cNvSpPr/>
            <p:nvPr/>
          </p:nvSpPr>
          <p:spPr>
            <a:xfrm>
              <a:off x="0" y="0"/>
              <a:ext cx="1910423" cy="438203"/>
            </a:xfrm>
            <a:custGeom>
              <a:avLst/>
              <a:gdLst/>
              <a:ahLst/>
              <a:cxnLst/>
              <a:rect l="l" t="t" r="r" b="b"/>
              <a:pathLst>
                <a:path w="1910423" h="438203">
                  <a:moveTo>
                    <a:pt x="85385" y="0"/>
                  </a:moveTo>
                  <a:lnTo>
                    <a:pt x="1825037" y="0"/>
                  </a:lnTo>
                  <a:cubicBezTo>
                    <a:pt x="1872194" y="0"/>
                    <a:pt x="1910423" y="38228"/>
                    <a:pt x="1910423" y="85385"/>
                  </a:cubicBezTo>
                  <a:lnTo>
                    <a:pt x="1910423" y="352817"/>
                  </a:lnTo>
                  <a:cubicBezTo>
                    <a:pt x="1910423" y="375463"/>
                    <a:pt x="1901427" y="397181"/>
                    <a:pt x="1885414" y="413194"/>
                  </a:cubicBezTo>
                  <a:cubicBezTo>
                    <a:pt x="1869401" y="429207"/>
                    <a:pt x="1847683" y="438203"/>
                    <a:pt x="1825037" y="438203"/>
                  </a:cubicBezTo>
                  <a:lnTo>
                    <a:pt x="85385" y="438203"/>
                  </a:lnTo>
                  <a:cubicBezTo>
                    <a:pt x="62740" y="438203"/>
                    <a:pt x="41022" y="429207"/>
                    <a:pt x="25009" y="413194"/>
                  </a:cubicBezTo>
                  <a:cubicBezTo>
                    <a:pt x="8996" y="397181"/>
                    <a:pt x="0" y="375463"/>
                    <a:pt x="0" y="352817"/>
                  </a:cubicBezTo>
                  <a:lnTo>
                    <a:pt x="0" y="85385"/>
                  </a:lnTo>
                  <a:cubicBezTo>
                    <a:pt x="0" y="62740"/>
                    <a:pt x="8996" y="41022"/>
                    <a:pt x="25009" y="25009"/>
                  </a:cubicBezTo>
                  <a:cubicBezTo>
                    <a:pt x="41022" y="8996"/>
                    <a:pt x="62740" y="0"/>
                    <a:pt x="85385" y="0"/>
                  </a:cubicBezTo>
                  <a:close/>
                </a:path>
              </a:pathLst>
            </a:custGeom>
            <a:solidFill>
              <a:srgbClr val="ABBADA"/>
            </a:solidFill>
          </p:spPr>
        </p:sp>
        <p:sp>
          <p:nvSpPr>
            <p:cNvPr id="7" name="TextBox 7"/>
            <p:cNvSpPr txBox="1"/>
            <p:nvPr/>
          </p:nvSpPr>
          <p:spPr>
            <a:xfrm>
              <a:off x="26717" y="59276"/>
              <a:ext cx="1766084" cy="504878"/>
            </a:xfrm>
            <a:prstGeom prst="rect">
              <a:avLst/>
            </a:prstGeom>
          </p:spPr>
          <p:txBody>
            <a:bodyPr lIns="50800" tIns="50800" rIns="50800" bIns="50800" rtlCol="0" anchor="ctr"/>
            <a:lstStyle/>
            <a:p>
              <a:pPr algn="l">
                <a:lnSpc>
                  <a:spcPts val="3919"/>
                </a:lnSpc>
              </a:pPr>
              <a:r>
                <a:rPr lang="en-US" sz="2799" b="1" dirty="0">
                  <a:solidFill>
                    <a:srgbClr val="000000"/>
                  </a:solidFill>
                  <a:latin typeface="Quicksand Bold"/>
                  <a:ea typeface="Quicksand Bold"/>
                  <a:cs typeface="Quicksand Bold"/>
                  <a:sym typeface="Quicksand Bold"/>
                </a:rPr>
                <a:t>       Therenz R. Ellema</a:t>
              </a:r>
            </a:p>
            <a:p>
              <a:pPr algn="l">
                <a:lnSpc>
                  <a:spcPts val="3919"/>
                </a:lnSpc>
              </a:pPr>
              <a:r>
                <a:rPr lang="en-US" sz="2799" b="1" dirty="0">
                  <a:solidFill>
                    <a:srgbClr val="000000"/>
                  </a:solidFill>
                  <a:latin typeface="Quicksand Bold"/>
                  <a:ea typeface="Quicksand Bold"/>
                  <a:cs typeface="Quicksand Bold"/>
                  <a:sym typeface="Quicksand Bold"/>
                </a:rPr>
                <a:t>       Xanthus Matthew G. Vermug</a:t>
              </a:r>
            </a:p>
            <a:p>
              <a:pPr algn="l">
                <a:lnSpc>
                  <a:spcPts val="3919"/>
                </a:lnSpc>
                <a:spcBef>
                  <a:spcPct val="0"/>
                </a:spcBef>
              </a:pPr>
              <a:endParaRPr lang="en-US" sz="2799" b="1" dirty="0">
                <a:solidFill>
                  <a:srgbClr val="000000"/>
                </a:solidFill>
                <a:latin typeface="Quicksand Bold"/>
                <a:ea typeface="Quicksand Bold"/>
                <a:cs typeface="Quicksand Bold"/>
                <a:sym typeface="Quicksand Bold"/>
              </a:endParaRPr>
            </a:p>
          </p:txBody>
        </p:sp>
      </p:grpSp>
      <p:sp>
        <p:nvSpPr>
          <p:cNvPr id="8" name="Freeform 8"/>
          <p:cNvSpPr/>
          <p:nvPr/>
        </p:nvSpPr>
        <p:spPr>
          <a:xfrm rot="285875">
            <a:off x="7882302" y="6213184"/>
            <a:ext cx="2310758" cy="2310758"/>
          </a:xfrm>
          <a:custGeom>
            <a:avLst/>
            <a:gdLst/>
            <a:ahLst/>
            <a:cxnLst/>
            <a:rect l="l" t="t" r="r" b="b"/>
            <a:pathLst>
              <a:path w="2310758" h="2310758">
                <a:moveTo>
                  <a:pt x="0" y="0"/>
                </a:moveTo>
                <a:lnTo>
                  <a:pt x="2310759" y="0"/>
                </a:lnTo>
                <a:lnTo>
                  <a:pt x="2310759" y="2310758"/>
                </a:lnTo>
                <a:lnTo>
                  <a:pt x="0" y="2310758"/>
                </a:lnTo>
                <a:lnTo>
                  <a:pt x="0" y="0"/>
                </a:lnTo>
                <a:close/>
              </a:path>
            </a:pathLst>
          </a:custGeom>
          <a:blipFill>
            <a:blip r:embed="rId2" cstate="print">
              <a:extLst>
                <a:ext uri="{96DAC541-7B7A-43D3-8B79-37D633B846F1}">
                  <asvg:svgBlip xmlns:asvg="http://schemas.microsoft.com/office/drawing/2016/SVG/main" xmlns="" r:embed="rId3"/>
                </a:ext>
              </a:extLst>
            </a:blip>
            <a:stretch>
              <a:fillRect/>
            </a:stretch>
          </a:blipFill>
        </p:spPr>
      </p:sp>
      <p:sp>
        <p:nvSpPr>
          <p:cNvPr id="9" name="Freeform 9"/>
          <p:cNvSpPr/>
          <p:nvPr/>
        </p:nvSpPr>
        <p:spPr>
          <a:xfrm rot="302537">
            <a:off x="13380910" y="2556547"/>
            <a:ext cx="4151122" cy="4114800"/>
          </a:xfrm>
          <a:custGeom>
            <a:avLst/>
            <a:gdLst/>
            <a:ahLst/>
            <a:cxnLst/>
            <a:rect l="l" t="t" r="r" b="b"/>
            <a:pathLst>
              <a:path w="4151122" h="4114800">
                <a:moveTo>
                  <a:pt x="0" y="0"/>
                </a:moveTo>
                <a:lnTo>
                  <a:pt x="4151122" y="0"/>
                </a:lnTo>
                <a:lnTo>
                  <a:pt x="4151122" y="4114800"/>
                </a:lnTo>
                <a:lnTo>
                  <a:pt x="0" y="411480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0" name="Freeform 10"/>
          <p:cNvSpPr/>
          <p:nvPr/>
        </p:nvSpPr>
        <p:spPr>
          <a:xfrm rot="456967">
            <a:off x="1311535" y="2057978"/>
            <a:ext cx="2696957" cy="3017574"/>
          </a:xfrm>
          <a:custGeom>
            <a:avLst/>
            <a:gdLst/>
            <a:ahLst/>
            <a:cxnLst/>
            <a:rect l="l" t="t" r="r" b="b"/>
            <a:pathLst>
              <a:path w="2696957" h="3017574">
                <a:moveTo>
                  <a:pt x="0" y="0"/>
                </a:moveTo>
                <a:lnTo>
                  <a:pt x="2696956" y="0"/>
                </a:lnTo>
                <a:lnTo>
                  <a:pt x="2696956" y="3017574"/>
                </a:lnTo>
                <a:lnTo>
                  <a:pt x="0" y="3017574"/>
                </a:lnTo>
                <a:lnTo>
                  <a:pt x="0" y="0"/>
                </a:lnTo>
                <a:close/>
              </a:path>
            </a:pathLst>
          </a:custGeom>
          <a:blipFill>
            <a:blip r:embed="rId6" cstate="print"/>
            <a:stretch>
              <a:fillRect/>
            </a:stretch>
          </a:blipFill>
        </p:spPr>
      </p:sp>
      <p:sp>
        <p:nvSpPr>
          <p:cNvPr id="11" name="Freeform 11"/>
          <p:cNvSpPr/>
          <p:nvPr/>
        </p:nvSpPr>
        <p:spPr>
          <a:xfrm>
            <a:off x="3394943" y="4281017"/>
            <a:ext cx="2390329" cy="2390329"/>
          </a:xfrm>
          <a:custGeom>
            <a:avLst/>
            <a:gdLst/>
            <a:ahLst/>
            <a:cxnLst/>
            <a:rect l="l" t="t" r="r" b="b"/>
            <a:pathLst>
              <a:path w="2390329" h="2390329">
                <a:moveTo>
                  <a:pt x="0" y="0"/>
                </a:moveTo>
                <a:lnTo>
                  <a:pt x="2390329" y="0"/>
                </a:lnTo>
                <a:lnTo>
                  <a:pt x="2390329" y="2390330"/>
                </a:lnTo>
                <a:lnTo>
                  <a:pt x="0" y="2390330"/>
                </a:lnTo>
                <a:lnTo>
                  <a:pt x="0" y="0"/>
                </a:lnTo>
                <a:close/>
              </a:path>
            </a:pathLst>
          </a:custGeom>
          <a:blipFill>
            <a:blip r:embed="rId7" cstate="print">
              <a:extLst>
                <a:ext uri="{96DAC541-7B7A-43D3-8B79-37D633B846F1}">
                  <asvg:svgBlip xmlns:asvg="http://schemas.microsoft.com/office/drawing/2016/SVG/main" xmlns="" r:embed="rId8"/>
                </a:ext>
              </a:extLst>
            </a:blip>
            <a:stretch>
              <a:fillRect/>
            </a:stretch>
          </a:blipFill>
        </p:spPr>
      </p:sp>
      <p:sp>
        <p:nvSpPr>
          <p:cNvPr id="12" name="TextBox 12"/>
          <p:cNvSpPr txBox="1"/>
          <p:nvPr/>
        </p:nvSpPr>
        <p:spPr>
          <a:xfrm>
            <a:off x="5828213" y="1403804"/>
            <a:ext cx="8583387" cy="3671747"/>
          </a:xfrm>
          <a:prstGeom prst="rect">
            <a:avLst/>
          </a:prstGeom>
        </p:spPr>
        <p:txBody>
          <a:bodyPr lIns="0" tIns="0" rIns="0" bIns="0" rtlCol="0" anchor="t">
            <a:spAutoFit/>
          </a:bodyPr>
          <a:lstStyle/>
          <a:p>
            <a:pPr algn="ctr">
              <a:lnSpc>
                <a:spcPts val="8935"/>
              </a:lnSpc>
            </a:pPr>
            <a:r>
              <a:rPr lang="en-US" sz="9928">
                <a:solidFill>
                  <a:srgbClr val="CB5A2E"/>
                </a:solidFill>
                <a:latin typeface="Bungee"/>
                <a:ea typeface="Bungee"/>
                <a:cs typeface="Bungee"/>
                <a:sym typeface="Bungee"/>
              </a:rPr>
              <a:t>THANK YOU FOR LISTENING</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TotalTime>
  <Words>1829</Words>
  <Application>Microsoft Office PowerPoint</Application>
  <PresentationFormat>Custom</PresentationFormat>
  <Paragraphs>165</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Bungee</vt:lpstr>
      <vt:lpstr>Times New Roman</vt:lpstr>
      <vt:lpstr>Segoe UI Historic</vt:lpstr>
      <vt:lpstr>Quicksand</vt:lpstr>
      <vt:lpstr>Quicksand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 to Productivity and Efficiency</dc:title>
  <dc:creator>Admin</dc:creator>
  <cp:lastModifiedBy>Therenz</cp:lastModifiedBy>
  <cp:revision>25</cp:revision>
  <dcterms:created xsi:type="dcterms:W3CDTF">2006-08-16T00:00:00Z</dcterms:created>
  <dcterms:modified xsi:type="dcterms:W3CDTF">2026-05-08T23:29:58Z</dcterms:modified>
  <dc:identifier>DAG5mYoWIxI</dc:identifier>
</cp:coreProperties>
</file>